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f555bc4da941d8" /><Relationship Type="http://schemas.openxmlformats.org/officeDocument/2006/relationships/extended-properties" Target="/docProps/app.xml" Id="Ra483f918b27d44f5" /><Relationship Type="http://schemas.openxmlformats.org/officeDocument/2006/relationships/officeDocument" Target="/ppt/presentation.xml" Id="Rb0c76ddc54d64c44" /></Relationships>
</file>

<file path=ppt/presentation.xml><?xml version="1.0" encoding="utf-8"?>
<p:presentation xmlns:p="http://schemas.openxmlformats.org/presentationml/2006/main">
  <p:sldMasterIdLst>
    <p:sldMasterId xmlns:r="http://schemas.openxmlformats.org/officeDocument/2006/relationships" id="2147483648" r:id="R250780c9a55345a3"/>
  </p:sldMasterIdLst>
  <p:notesMasterIdLst>
    <p:notesMasterId xmlns:r="http://schemas.openxmlformats.org/officeDocument/2006/relationships" r:id="R92b3864fcb0748f8"/>
  </p:notesMasterIdLst>
  <p:sldIdLst>
    <p:sldId xmlns:r="http://schemas.openxmlformats.org/officeDocument/2006/relationships" id="256" r:id="R6da0bdf1d48d43ac"/>
    <p:sldId xmlns:r="http://schemas.openxmlformats.org/officeDocument/2006/relationships" id="257" r:id="R1035bb3312c545a2"/>
    <p:sldId xmlns:r="http://schemas.openxmlformats.org/officeDocument/2006/relationships" id="258" r:id="R10639e41e49143d0"/>
    <p:sldId xmlns:r="http://schemas.openxmlformats.org/officeDocument/2006/relationships" id="259" r:id="Re8757fe54ecc4f16"/>
    <p:sldId xmlns:r="http://schemas.openxmlformats.org/officeDocument/2006/relationships" id="260" r:id="R59832389dbe04673"/>
    <p:sldId xmlns:r="http://schemas.openxmlformats.org/officeDocument/2006/relationships" id="261" r:id="R70d2f24fa85148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1a2323b47c4bc5" /><Relationship Type="http://schemas.openxmlformats.org/officeDocument/2006/relationships/slideMaster" Target="/ppt/slideMasters/slideMaster1.xml" Id="R250780c9a55345a3" /><Relationship Type="http://schemas.openxmlformats.org/officeDocument/2006/relationships/notesMaster" Target="/ppt/notesMasters/notesMaster1.xml" Id="R92b3864fcb0748f8" /><Relationship Type="http://schemas.openxmlformats.org/officeDocument/2006/relationships/presProps" Target="/ppt/presProps.xml" Id="R3ed50dfd39bf4a12" /><Relationship Type="http://schemas.openxmlformats.org/officeDocument/2006/relationships/tableStyles" Target="/ppt/tableStyles.xml" Id="R1e0cc0480da64981" /><Relationship Type="http://schemas.openxmlformats.org/officeDocument/2006/relationships/slide" Target="/ppt/slides/slide1.xml" Id="R6da0bdf1d48d43ac" /><Relationship Type="http://schemas.openxmlformats.org/officeDocument/2006/relationships/slide" Target="/ppt/slides/slide2.xml" Id="R1035bb3312c545a2" /><Relationship Type="http://schemas.openxmlformats.org/officeDocument/2006/relationships/slide" Target="/ppt/slides/slide3.xml" Id="R10639e41e49143d0" /><Relationship Type="http://schemas.openxmlformats.org/officeDocument/2006/relationships/slide" Target="/ppt/slides/slide4.xml" Id="Re8757fe54ecc4f16" /><Relationship Type="http://schemas.openxmlformats.org/officeDocument/2006/relationships/slide" Target="/ppt/slides/slide5.xml" Id="R59832389dbe04673" /><Relationship Type="http://schemas.openxmlformats.org/officeDocument/2006/relationships/slide" Target="/ppt/slides/slide6.xml" Id="R70d2f24fa85148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dff0286d5e42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3deb2b38904924" /><Relationship Type="http://schemas.openxmlformats.org/officeDocument/2006/relationships/notesMaster" Target="/ppt/notesMasters/notesMaster1.xml" Id="R7dc9a992160643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1feb94f50d4b94" /><Relationship Type="http://schemas.openxmlformats.org/officeDocument/2006/relationships/notesMaster" Target="/ppt/notesMasters/notesMaster1.xml" Id="Re47974fb702c4d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e3f2d102024ffb" /><Relationship Type="http://schemas.openxmlformats.org/officeDocument/2006/relationships/notesMaster" Target="/ppt/notesMasters/notesMaster1.xml" Id="Rc60c4cc8465a47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ef6808b5654de9" /><Relationship Type="http://schemas.openxmlformats.org/officeDocument/2006/relationships/notesMaster" Target="/ppt/notesMasters/notesMaster1.xml" Id="R90f8338383dd47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c7f1034776494e" /><Relationship Type="http://schemas.openxmlformats.org/officeDocument/2006/relationships/notesMaster" Target="/ppt/notesMasters/notesMaster1.xml" Id="R9e78d5819dd147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eac6d95d064003" /><Relationship Type="http://schemas.openxmlformats.org/officeDocument/2006/relationships/notesMaster" Target="/ppt/notesMasters/notesMaster1.xml" Id="R4d320d567a4b4c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25 saniye. Sayın Rektörüm, üniversitemizin bilgisi yönetmeliklerinde, web sayfalarında ve personelimizin birikiminde yaşıyor. BAKAI ile öğrencimizin veya çalışanımızın bu bilgiye bir soru sorarak ve cevabın kaynağını görerek ulaşmasını amaçlıyoruz. Bu uygulamayı üniversitemizin BAP desteği kapsamında geliştirdim.</a:t>
            </a:r>
          </a:p>
          <a:p xmlns:a="http://schemas.openxmlformats.org/drawingml/2006/main">
            <a:r>
              <a:t/>
            </a:r>
          </a:p>
          <a:p xmlns:a="http://schemas.openxmlformats.org/drawingml/2006/main">
            <a:r>
              <a:t>Kaynaklar:</a:t>
            </a:r>
          </a:p>
          <a:p xmlns:a="http://schemas.openxmlformats.org/drawingml/2006/main">
            <a:r>
              <a:t>https://bakai.manas.edu.kg/hakkinda</a:t>
            </a:r>
          </a:p>
          <a:p xmlns:a="http://schemas.openxmlformats.org/drawingml/2006/main">
            <a:r>
              <a:t>frontend/app/lib/project.ts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35 saniye. İsim, Manas Destanı’ndaki bilge danışman Bakay’dan geliyor. Yol gösterici bu karakter, projenin kurumsal bilgiye rehberlik etme fikrine ilham verdi. Biz de bu kültürel bağı, üniversitemizin bilgisini insanlara ulaştıran bir uygulamada yaşatmak istedik. BAP başvurusundaki resmî ad BAKAY olarak korunuyor. Kültürel kökeni bir benzetme olarak anlatın, sistemin insani bilgelik veya mutlak doğruluk taşıdığı anlamını yüklemeyin.</a:t>
            </a:r>
          </a:p>
          <a:p xmlns:a="http://schemas.openxmlformats.org/drawingml/2006/main">
            <a:r>
              <a:t/>
            </a:r>
          </a:p>
          <a:p xmlns:a="http://schemas.openxmlformats.org/drawingml/2006/main">
            <a:r>
              <a:t>Kaynaklar:</a:t>
            </a:r>
          </a:p>
          <a:p xmlns:a="http://schemas.openxmlformats.org/drawingml/2006/main">
            <a:r>
              <a:t>https://bakai.manas.edu.kg/hakkinda</a:t>
            </a:r>
          </a:p>
          <a:p xmlns:a="http://schemas.openxmlformats.org/drawingml/2006/main">
            <a:r>
              <a:t>BAP_Files/BAP_Basvuru_Formu_TR.pdf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40 saniye. Bir öğrenci bir işlemin şartlarını öğrenmek istediğinde farklı sayfalara veya uzun belgelere bakmak zorunda kalabiliyor. BAKAI’nin amacı bu arayışı kolaylaştırmak. Kişi sorusunu Türkçe yazıyor, sistem mevcut üniversite belgelerinden yararlanarak bir cevap ve kaynak sunuyor. Beklentimiz aynı sorular için tekrarlanan yönlendirme yükünü azaltmak. Bu faydayı henüz ölçtüğümüzü söylemiyoruz. Kurumsal hafıza burada resmî kaynaklara erişimi anlatan bir benzetme, tüm arşivlerin veya personelin bilgisinin sisteme aktarıldığı anlamına gelmiyor.</a:t>
            </a:r>
          </a:p>
          <a:p xmlns:a="http://schemas.openxmlformats.org/drawingml/2006/main">
            <a:r>
              <a:t/>
            </a:r>
          </a:p>
          <a:p xmlns:a="http://schemas.openxmlformats.org/drawingml/2006/main">
            <a:r>
              <a:t>Kaynaklar:</a:t>
            </a:r>
          </a:p>
          <a:p xmlns:a="http://schemas.openxmlformats.org/drawingml/2006/main">
            <a:r>
              <a:t>README.md</a:t>
            </a:r>
          </a:p>
          <a:p xmlns:a="http://schemas.openxmlformats.org/drawingml/2006/main">
            <a:r>
              <a:t>backend/app/rag/pipeline.py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25 saniye, ardından 90 saniyelik demo. Buradaki gerçek örnekte bir öğrenci daha önce aldığı dersleri saydırıp saydıramayacağını soruyor. BAKAI koşulları özetliyor ve yönetmelik bağlantısını gösteriyor. Şimdi aynı örneği uygulama üzerinde açalım. Yanıtı kısaca gösterdikten sonra kaynak belgesine geçin. Mevcut kayıtlı yanıtı kullanabilirsiniz, yeni soru sormak zorunlu değil. Cevap gecikirse bu slayttaki görüntü üzerinden devam edin. Örnek yanıtın genel doğruluk oranını kanıtlamadığını, önemli işlemlerde ilgili birimin değerlendirmesinin gerektiğini belirtin.</a:t>
            </a:r>
          </a:p>
          <a:p xmlns:a="http://schemas.openxmlformats.org/drawingml/2006/main">
            <a:r>
              <a:t/>
            </a:r>
          </a:p>
          <a:p xmlns:a="http://schemas.openxmlformats.org/drawingml/2006/main">
            <a:r>
              <a:t>Kaynaklar:</a:t>
            </a:r>
          </a:p>
          <a:p xmlns:a="http://schemas.openxmlformats.org/drawingml/2006/main">
            <a:r>
              <a:t>https://bakai.manas.edu.kg/</a:t>
            </a:r>
          </a:p>
          <a:p xmlns:a="http://schemas.openxmlformats.org/drawingml/2006/main">
            <a:r>
              <a:t>assets/bakai-ornek-yanit.png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35 saniye. Uygulama üniversite sunucusunda çalışıyor. Kullanımı ve giderleri yönetim ekranından izliyoruz, günlük yedek alıyoruz. Şu aşamada en önemli konu, cevapların ilgili birimlerin bilgisiyle değerlendirilmesi ve kaynakların güncel tutulması. BAKAI hata yapabilir. Önemli bir işlemde kullanıcı kaynak belgeye ve yetkili birime başvurmalıdır. Teknik bir soru gelmedikçe model adlarını, tokenları, hız kotalarını veya yedek şifreleme ayrıntılarını anlatmaya gerek yok. İşletim gideri sorulursa tarihli pilot maliyetini ayrı konuşma notundan ve sınırlarıyla açıklayın. Uygulama ve indeks kurum sunucusundadır, yanıt üretiminde haricî Anthropic hizmeti soru ve ilgili alıntıları işler.</a:t>
            </a:r>
          </a:p>
          <a:p xmlns:a="http://schemas.openxmlformats.org/drawingml/2006/main">
            <a:r>
              <a:t/>
            </a:r>
          </a:p>
          <a:p xmlns:a="http://schemas.openxmlformats.org/drawingml/2006/main">
            <a:r>
              <a:t>Kaynaklar:</a:t>
            </a:r>
          </a:p>
          <a:p xmlns:a="http://schemas.openxmlformats.org/drawingml/2006/main">
            <a:r>
              <a:t>docs/deployment/operations.md</a:t>
            </a:r>
          </a:p>
          <a:p xmlns:a="http://schemas.openxmlformats.org/drawingml/2006/main">
            <a:r>
              <a:t>docs/deployment/ktmu.md</a:t>
            </a:r>
          </a:p>
          <a:p xmlns:a="http://schemas.openxmlformats.org/drawingml/2006/main">
            <a:r>
              <a:t>backend/app/rag/llm.py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Yaklaşık 40 saniye. Sayın Rektörüm, bundan sonraki adımda ilgili birimlerimizden kendi alanlarında gerçek sorularını ve doğru cevaplarını rica edebiliriz. Cevapların hangi güncel belgeye dayandığını da birlikte alırsak BAKAI’nin yanıtlarını bunlarla karşılaştırabiliriz. Eksik kaynakları tamamlar, hatalı cevapları düzeltir ve personelimizle tekrar değerlendiririz. Rektörlüğümüzün bu katkıyı istemesi, çalışan uygulamayı kurumun ihtiyaçlarına göre geliştirmemizi sağlayacak. Henüz değerlendirme verisi toplanmadığı ve kurum çapında doğruluk oranı bulunmadığı açık tutulmalıdır. Teşekkür edip soruları alın.</a:t>
            </a:r>
          </a:p>
          <a:p xmlns:a="http://schemas.openxmlformats.org/drawingml/2006/main">
            <a:r>
              <a:t/>
            </a:r>
          </a:p>
          <a:p xmlns:a="http://schemas.openxmlformats.org/drawingml/2006/main">
            <a:r>
              <a:t>Kaynaklar:</a:t>
            </a:r>
          </a:p>
          <a:p xmlns:a="http://schemas.openxmlformats.org/drawingml/2006/main">
            <a:r>
              <a:t>Kullanıcının sunum sonrasında rektörlük aracılığıyla personelden soru-cevap isteme planı</a:t>
            </a:r>
          </a:p>
          <a:p xmlns:a="http://schemas.openxmlformats.org/drawingml/2006/main">
            <a:r>
              <a:t>docs/evaluation/gold-v1/README.md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f9a3142ab743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773a104f544b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b17f9c74324d8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123812f88f48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5b7f671c1449e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913c696a1b244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AB4D43-C7FD-4C98-B44F-34C84C2271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73CC09D-618F-4900-BE90-BF72C306CEB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9B66881-3493-4692-A96B-B8C36FD307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076651-286E-4B9D-9668-7F653F1EAB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5BE58E-407B-4C8E-A64C-1E8261B0ED3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9E86F34-36D8-433A-8E8C-483F626C6CC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2B7C57-5E36-4AA7-8737-41E4DF13A1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5DF5BBA-5CB2-41F0-B1D5-6842D880BDE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E81CDF-5DB1-417C-81E1-9C1FFE0FB1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C8FC91-5F1A-4DA9-8697-2F4B4E2476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b3f380564b4f2b" /><Relationship Type="http://schemas.openxmlformats.org/officeDocument/2006/relationships/slideLayout" Target="/ppt/slideLayouts/slideLayout1.xml" Id="R9f619d8be960438f" /><Relationship Type="http://schemas.openxmlformats.org/officeDocument/2006/relationships/slideLayout" Target="/ppt/slideLayouts/slideLayout2.xml" Id="R1f4d811363af4f11" /><Relationship Type="http://schemas.openxmlformats.org/officeDocument/2006/relationships/slideLayout" Target="/ppt/slideLayouts/slideLayout3.xml" Id="Redb12047bc7d46bb" /><Relationship Type="http://schemas.openxmlformats.org/officeDocument/2006/relationships/slideLayout" Target="/ppt/slideLayouts/slideLayout4.xml" Id="Rd65adab1732e4fa5" /><Relationship Type="http://schemas.openxmlformats.org/officeDocument/2006/relationships/slideLayout" Target="/ppt/slideLayouts/slideLayout5.xml" Id="Rbdd9f65b78df420f" /><Relationship Type="http://schemas.openxmlformats.org/officeDocument/2006/relationships/slideLayout" Target="/ppt/slideLayouts/slideLayout6.xml" Id="R27ba8763855948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619d8be960438f"/>
    <p:sldLayoutId xmlns:r="http://schemas.openxmlformats.org/officeDocument/2006/relationships" id="2147483650" r:id="R1f4d811363af4f11"/>
    <p:sldLayoutId xmlns:r="http://schemas.openxmlformats.org/officeDocument/2006/relationships" id="2147483651" r:id="Redb12047bc7d46bb"/>
    <p:sldLayoutId xmlns:r="http://schemas.openxmlformats.org/officeDocument/2006/relationships" id="2147483652" r:id="Rd65adab1732e4fa5"/>
    <p:sldLayoutId xmlns:r="http://schemas.openxmlformats.org/officeDocument/2006/relationships" id="2147483653" r:id="Rbdd9f65b78df420f"/>
    <p:sldLayoutId xmlns:r="http://schemas.openxmlformats.org/officeDocument/2006/relationships" id="2147483654" r:id="R27ba8763855948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7c127a006e646d7" /><Relationship Type="http://schemas.openxmlformats.org/officeDocument/2006/relationships/image" Target="/ppt/media/image.png" Id="R0242ed9211d64839" /><Relationship Type="http://schemas.openxmlformats.org/officeDocument/2006/relationships/notesSlide" Target="/ppt/notesSlides/notesSlide1.xml" Id="R0abc7682e29248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c8691fbac14b18" /><Relationship Type="http://schemas.openxmlformats.org/officeDocument/2006/relationships/notesSlide" Target="/ppt/notesSlides/notesSlide2.xml" Id="R1725f891768a41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9af50aefd7d42ca" /><Relationship Type="http://schemas.openxmlformats.org/officeDocument/2006/relationships/notesSlide" Target="/ppt/notesSlides/notesSlide3.xml" Id="R8dfcbe07213e49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c7db85ad7f4cdc" /><Relationship Type="http://schemas.openxmlformats.org/officeDocument/2006/relationships/hyperlink" Target="https://bakai.manas.edu.kg/" TargetMode="External" Id="Racfcdbcf6cc24ad4" /><Relationship Type="http://schemas.openxmlformats.org/officeDocument/2006/relationships/image" Target="/ppt/media/image.jpeg" Id="R07bcb3c669f948d4" /><Relationship Type="http://schemas.openxmlformats.org/officeDocument/2006/relationships/notesSlide" Target="/ppt/notesSlides/notesSlide4.xml" Id="Re3affbef4cac46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d802cd44ff402d" /><Relationship Type="http://schemas.openxmlformats.org/officeDocument/2006/relationships/notesSlide" Target="/ppt/notesSlides/notesSlide5.xml" Id="R56942ffc8b7f43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3291b04b28849c4" /><Relationship Type="http://schemas.openxmlformats.org/officeDocument/2006/relationships/notesSlide" Target="/ppt/notesSlides/notesSlide6.xml" Id="R97b1df89e0f34f09" /></Relationships>
</file>

<file path=ppt/slides/slide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B09FD7-1884-45FF-AB5C-EBE2320E9930}"/>
              </a:ext>
            </a:extLst>
          </p:cNvPr>
          <p:cNvSpPr>
            <a:spLocks xmlns:a="http://schemas.openxmlformats.org/drawingml/2006/main" noGrp="1"/>
          </p:cNvSpPr>
          <p:nvPr/>
        </p:nvSpPr>
        <p:spPr>
          <a:xfrm xmlns:a="http://schemas.openxmlformats.org/drawingml/2006/main">
            <a:off x="723900" y="1095375"/>
            <a:ext cx="714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7200" b="1">
                <a:solidFill>
                  <a:srgbClr val="087B72"/>
                </a:solidFill>
                <a:latin typeface="Arial"/>
                <a:ea typeface="Arial"/>
                <a:cs typeface="Arial"/>
              </a:defRPr>
            </a:defPPr>
          </a:lstStyle>
          <a:p xmlns:a="http://schemas.openxmlformats.org/drawingml/2006/main">
            <a:pPr>
              <a:defRPr sz="7200" b="1">
                <a:solidFill>
                  <a:srgbClr val="087B72"/>
                </a:solidFill>
                <a:latin typeface="Arial"/>
                <a:ea typeface="Arial"/>
                <a:cs typeface="Arial"/>
              </a:defRPr>
            </a:pPr>
            <a:r>
              <a:rPr sz="7200" b="1">
                <a:solidFill>
                  <a:srgbClr val="087B72"/>
                </a:solidFill>
                <a:latin typeface="Arial"/>
                <a:ea typeface="Arial"/>
                <a:cs typeface="Arial"/>
              </a:rPr>
              <a:t>BAKAI</a:t>
            </a:r>
          </a:p>
        </p:txBody>
      </p:sp>
      <p:sp>
        <p:nvSpPr>
          <p:cNvPr id="2" name="">
            <a:extLst xmlns:a="http://schemas.openxmlformats.org/drawingml/2006/main">
              <a:ext uri="{FF2B5EF4-FFF2-40B4-BE49-F238E27FC236}">
                <a16:creationId xmlns:a16="http://schemas.microsoft.com/office/drawing/2014/main" id="{CD8023CB-1BC4-40BE-90C2-3189A7054668}"/>
              </a:ext>
            </a:extLst>
          </p:cNvPr>
          <p:cNvSpPr>
            <a:spLocks xmlns:a="http://schemas.openxmlformats.org/drawingml/2006/main" noGrp="1"/>
          </p:cNvSpPr>
          <p:nvPr/>
        </p:nvSpPr>
        <p:spPr>
          <a:xfrm xmlns:a="http://schemas.openxmlformats.org/drawingml/2006/main">
            <a:off x="762000" y="2552700"/>
            <a:ext cx="7524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142724"/>
                </a:solidFill>
                <a:latin typeface="Arial"/>
                <a:ea typeface="Arial"/>
                <a:cs typeface="Arial"/>
              </a:defRPr>
            </a:defPPr>
          </a:lstStyle>
          <a:p xmlns:a="http://schemas.openxmlformats.org/drawingml/2006/main">
            <a:pPr>
              <a:defRPr sz="3600" b="1">
                <a:solidFill>
                  <a:srgbClr val="142724"/>
                </a:solidFill>
                <a:latin typeface="Arial"/>
                <a:ea typeface="Arial"/>
                <a:cs typeface="Arial"/>
              </a:defRPr>
            </a:pPr>
            <a:r>
              <a:rPr sz="3600" b="1">
                <a:solidFill>
                  <a:srgbClr val="142724"/>
                </a:solidFill>
                <a:latin typeface="Arial"/>
                <a:ea typeface="Arial"/>
                <a:cs typeface="Arial"/>
              </a:rPr>
              <a:t>Üniversitenin bilgisine</a:t>
            </a:r>
          </a:p>
          <a:p xmlns:a="http://schemas.openxmlformats.org/drawingml/2006/main">
            <a:pPr>
              <a:defRPr sz="3600" b="1">
                <a:solidFill>
                  <a:srgbClr val="142724"/>
                </a:solidFill>
                <a:latin typeface="Arial"/>
                <a:ea typeface="Arial"/>
                <a:cs typeface="Arial"/>
              </a:defRPr>
            </a:pPr>
            <a:r>
              <a:rPr sz="3600" b="1">
                <a:solidFill>
                  <a:srgbClr val="142724"/>
                </a:solidFill>
                <a:latin typeface="Arial"/>
                <a:ea typeface="Arial"/>
                <a:cs typeface="Arial"/>
              </a:rPr>
              <a:t>kaynaklarıyla ulaşmak</a:t>
            </a:r>
          </a:p>
        </p:txBody>
      </p:sp>
      <p:sp>
        <p:nvSpPr>
          <p:cNvPr id="3" name="">
            <a:extLst xmlns:a="http://schemas.openxmlformats.org/drawingml/2006/main">
              <a:ext uri="{FF2B5EF4-FFF2-40B4-BE49-F238E27FC236}">
                <a16:creationId xmlns:a16="http://schemas.microsoft.com/office/drawing/2014/main" id="{31E76A9D-1796-41FA-92EA-1470B7B5A94E}"/>
              </a:ext>
            </a:extLst>
          </p:cNvPr>
          <p:cNvSpPr>
            <a:spLocks xmlns:a="http://schemas.openxmlformats.org/drawingml/2006/main" noGrp="1"/>
          </p:cNvSpPr>
          <p:nvPr/>
        </p:nvSpPr>
        <p:spPr>
          <a:xfrm xmlns:a="http://schemas.openxmlformats.org/drawingml/2006/main">
            <a:off x="762000" y="4524375"/>
            <a:ext cx="809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724"/>
                </a:solidFill>
                <a:latin typeface="Arial"/>
                <a:ea typeface="Arial"/>
                <a:cs typeface="Arial"/>
              </a:defRPr>
            </a:defPPr>
          </a:lstStyle>
          <a:p xmlns:a="http://schemas.openxmlformats.org/drawingml/2006/main">
            <a:pPr>
              <a:defRPr sz="2100" b="0">
                <a:solidFill>
                  <a:srgbClr val="142724"/>
                </a:solidFill>
                <a:latin typeface="Arial"/>
                <a:ea typeface="Arial"/>
                <a:cs typeface="Arial"/>
              </a:defRPr>
            </a:pPr>
            <a:r>
              <a:rPr sz="2100" b="0">
                <a:solidFill>
                  <a:srgbClr val="142724"/>
                </a:solidFill>
                <a:latin typeface="Arial"/>
                <a:ea typeface="Arial"/>
                <a:cs typeface="Arial"/>
              </a:rPr>
              <a:t>Yrd. Doç. Dr. Abdulkadir Şeker</a:t>
            </a:r>
          </a:p>
        </p:txBody>
      </p:sp>
      <p:sp>
        <p:nvSpPr>
          <p:cNvPr id="4" name="">
            <a:extLst xmlns:a="http://schemas.openxmlformats.org/drawingml/2006/main">
              <a:ext uri="{FF2B5EF4-FFF2-40B4-BE49-F238E27FC236}">
                <a16:creationId xmlns:a16="http://schemas.microsoft.com/office/drawing/2014/main" id="{F2F8C0FB-D6F2-41E1-9730-3A2631A9EE47}"/>
              </a:ext>
            </a:extLst>
          </p:cNvPr>
          <p:cNvSpPr>
            <a:spLocks xmlns:a="http://schemas.openxmlformats.org/drawingml/2006/main" noGrp="1"/>
          </p:cNvSpPr>
          <p:nvPr/>
        </p:nvSpPr>
        <p:spPr>
          <a:xfrm xmlns:a="http://schemas.openxmlformats.org/drawingml/2006/main">
            <a:off x="762000" y="498157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35A56"/>
                </a:solidFill>
                <a:latin typeface="Arial"/>
                <a:ea typeface="Arial"/>
                <a:cs typeface="Arial"/>
              </a:defRPr>
            </a:defPPr>
          </a:lstStyle>
          <a:p xmlns:a="http://schemas.openxmlformats.org/drawingml/2006/main">
            <a:pPr>
              <a:defRPr sz="1875" b="0">
                <a:solidFill>
                  <a:srgbClr val="435A56"/>
                </a:solidFill>
                <a:latin typeface="Arial"/>
                <a:ea typeface="Arial"/>
                <a:cs typeface="Arial"/>
              </a:defRPr>
            </a:pPr>
            <a:r>
              <a:rPr sz="1875" b="0">
                <a:solidFill>
                  <a:srgbClr val="435A56"/>
                </a:solidFill>
                <a:latin typeface="Arial"/>
                <a:ea typeface="Arial"/>
                <a:cs typeface="Arial"/>
              </a:rPr>
              <a:t>Proje yürütücüsü ve geliştirici</a:t>
            </a:r>
          </a:p>
        </p:txBody>
      </p:sp>
      <p:sp>
        <p:nvSpPr>
          <p:cNvPr id="5" name="">
            <a:extLst xmlns:a="http://schemas.openxmlformats.org/drawingml/2006/main">
              <a:ext uri="{FF2B5EF4-FFF2-40B4-BE49-F238E27FC236}">
                <a16:creationId xmlns:a16="http://schemas.microsoft.com/office/drawing/2014/main" id="{D901B9AD-DC01-469E-84BA-06A190152548}"/>
              </a:ext>
            </a:extLst>
          </p:cNvPr>
          <p:cNvSpPr>
            <a:spLocks xmlns:a="http://schemas.openxmlformats.org/drawingml/2006/main" noGrp="1"/>
          </p:cNvSpPr>
          <p:nvPr/>
        </p:nvSpPr>
        <p:spPr>
          <a:xfrm xmlns:a="http://schemas.openxmlformats.org/drawingml/2006/main">
            <a:off x="762000" y="5962650"/>
            <a:ext cx="904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435A56"/>
                </a:solidFill>
                <a:latin typeface="Arial"/>
                <a:ea typeface="Arial"/>
                <a:cs typeface="Arial"/>
              </a:defRPr>
            </a:defPPr>
          </a:lstStyle>
          <a:p xmlns:a="http://schemas.openxmlformats.org/drawingml/2006/main">
            <a:pPr>
              <a:defRPr sz="1650" b="0">
                <a:solidFill>
                  <a:srgbClr val="435A56"/>
                </a:solidFill>
                <a:latin typeface="Arial"/>
                <a:ea typeface="Arial"/>
                <a:cs typeface="Arial"/>
              </a:defRPr>
            </a:pPr>
            <a:r>
              <a:rPr sz="1650" b="0">
                <a:solidFill>
                  <a:srgbClr val="435A56"/>
                </a:solidFill>
                <a:latin typeface="Arial"/>
                <a:ea typeface="Arial"/>
                <a:cs typeface="Arial"/>
              </a:rPr>
              <a:t>KTMÜ BAP   KTMU-BAP-2026.FB.05</a:t>
            </a:r>
          </a:p>
        </p:txBody>
      </p:sp>
      <p:pic>
        <p:nvPicPr>
          <p:cNvPr id="6" name="">
            <a:extLst xmlns:a="http://schemas.openxmlformats.org/drawingml/2006/main">
              <a:ext uri="{FF2B5EF4-FFF2-40B4-BE49-F238E27FC236}">
                <a16:creationId xmlns:a16="http://schemas.microsoft.com/office/drawing/2014/main" id="{89CDDA0B-15F2-4C39-B689-AB3F1A18228C}"/>
              </a:ext>
            </a:extLst>
          </p:cNvPr>
          <p:cNvPicPr>
            <a:picLocks xmlns:a="http://schemas.openxmlformats.org/drawingml/2006/main" noChangeAspect="1"/>
          </p:cNvPicPr>
          <p:nvPr/>
        </p:nvPicPr>
        <p:blipFill>
          <a:blip xmlns:r="http://schemas.openxmlformats.org/officeDocument/2006/relationships" xmlns:a="http://schemas.openxmlformats.org/drawingml/2006/main" r:embed="R0242ed9211d64839"/>
          <a:stretch xmlns:a="http://schemas.openxmlformats.org/drawingml/2006/main"/>
        </p:blipFill>
        <p:spPr>
          <a:xfrm xmlns:a="http://schemas.openxmlformats.org/drawingml/2006/main">
            <a:off x="8896350" y="1781175"/>
            <a:ext cx="2524125" cy="2524125"/>
          </a:xfrm>
          <a:prstGeom xmlns:a="http://schemas.openxmlformats.org/drawingml/2006/main" prst="rect">
            <a:avLst/>
          </a:prstGeom>
        </p:spPr>
      </p:pic>
    </p:spTree>
    <p:extLst>
      <p:ext uri="{BB962C8B-B14F-4D97-AF65-F5344CB8AC3E}">
        <p14:creationId xmlns:p14="http://schemas.microsoft.com/office/powerpoint/2010/main" val="92150536"/>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E65CB5-7A3B-49B9-9B7C-CF571CB1DAB7}"/>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Bakay’dan BAKAI’ye</a:t>
            </a:r>
          </a:p>
        </p:txBody>
      </p:sp>
      <p:sp>
        <p:nvSpPr>
          <p:cNvPr id="2" name="">
            <a:extLst xmlns:a="http://schemas.openxmlformats.org/drawingml/2006/main">
              <a:ext uri="{FF2B5EF4-FFF2-40B4-BE49-F238E27FC236}">
                <a16:creationId xmlns:a16="http://schemas.microsoft.com/office/drawing/2014/main" id="{C6C38182-6C65-475D-AC74-30E130736B6D}"/>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CDC265BB-D853-4D47-948D-2AACA9F0E177}"/>
              </a:ext>
            </a:extLst>
          </p:cNvPr>
          <p:cNvSpPr>
            <a:spLocks xmlns:a="http://schemas.openxmlformats.org/drawingml/2006/main" noGrp="1"/>
          </p:cNvSpPr>
          <p:nvPr/>
        </p:nvSpPr>
        <p:spPr>
          <a:xfrm xmlns:a="http://schemas.openxmlformats.org/drawingml/2006/main">
            <a:off x="762000" y="1885950"/>
            <a:ext cx="10668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275" b="1">
                <a:solidFill>
                  <a:srgbClr val="087B72"/>
                </a:solidFill>
                <a:latin typeface="Arial"/>
                <a:ea typeface="Arial"/>
                <a:cs typeface="Arial"/>
              </a:defRPr>
            </a:defPPr>
          </a:lstStyle>
          <a:p xmlns:a="http://schemas.openxmlformats.org/drawingml/2006/main">
            <a:pPr>
              <a:defRPr sz="4275" b="1">
                <a:solidFill>
                  <a:srgbClr val="087B72"/>
                </a:solidFill>
                <a:latin typeface="Arial"/>
                <a:ea typeface="Arial"/>
                <a:cs typeface="Arial"/>
              </a:defRPr>
            </a:pPr>
            <a:r>
              <a:rPr sz="4275" b="1">
                <a:solidFill>
                  <a:srgbClr val="087B72"/>
                </a:solidFill>
                <a:latin typeface="Arial"/>
                <a:ea typeface="Arial"/>
                <a:cs typeface="Arial"/>
              </a:rPr>
              <a:t>Manas Destanı’nın</a:t>
            </a:r>
          </a:p>
          <a:p xmlns:a="http://schemas.openxmlformats.org/drawingml/2006/main">
            <a:pPr>
              <a:defRPr sz="4275" b="1">
                <a:solidFill>
                  <a:srgbClr val="087B72"/>
                </a:solidFill>
                <a:latin typeface="Arial"/>
                <a:ea typeface="Arial"/>
                <a:cs typeface="Arial"/>
              </a:defRPr>
            </a:pPr>
            <a:r>
              <a:rPr sz="4275" b="1">
                <a:solidFill>
                  <a:srgbClr val="087B72"/>
                </a:solidFill>
                <a:latin typeface="Arial"/>
                <a:ea typeface="Arial"/>
                <a:cs typeface="Arial"/>
              </a:rPr>
              <a:t>bilge danışmanı Bakay</a:t>
            </a:r>
          </a:p>
        </p:txBody>
      </p:sp>
      <p:sp>
        <p:nvSpPr>
          <p:cNvPr id="4" name="">
            <a:extLst xmlns:a="http://schemas.openxmlformats.org/drawingml/2006/main">
              <a:ext uri="{FF2B5EF4-FFF2-40B4-BE49-F238E27FC236}">
                <a16:creationId xmlns:a16="http://schemas.microsoft.com/office/drawing/2014/main" id="{8F92E9D8-317D-4B93-8883-A43F8C274F46}"/>
              </a:ext>
            </a:extLst>
          </p:cNvPr>
          <p:cNvSpPr>
            <a:spLocks xmlns:a="http://schemas.openxmlformats.org/drawingml/2006/main" noGrp="1"/>
          </p:cNvSpPr>
          <p:nvPr/>
        </p:nvSpPr>
        <p:spPr>
          <a:xfrm xmlns:a="http://schemas.openxmlformats.org/drawingml/2006/main">
            <a:off x="762000" y="4010025"/>
            <a:ext cx="10287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0">
                <a:solidFill>
                  <a:srgbClr val="142724"/>
                </a:solidFill>
                <a:latin typeface="Arial"/>
                <a:ea typeface="Arial"/>
                <a:cs typeface="Arial"/>
              </a:defRPr>
            </a:defPPr>
          </a:lstStyle>
          <a:p xmlns:a="http://schemas.openxmlformats.org/drawingml/2006/main">
            <a:pPr>
              <a:defRPr sz="2700" b="0">
                <a:solidFill>
                  <a:srgbClr val="142724"/>
                </a:solidFill>
                <a:latin typeface="Arial"/>
                <a:ea typeface="Arial"/>
                <a:cs typeface="Arial"/>
              </a:defRPr>
            </a:pPr>
            <a:r>
              <a:rPr sz="2700" b="0">
                <a:solidFill>
                  <a:srgbClr val="142724"/>
                </a:solidFill>
                <a:latin typeface="Arial"/>
                <a:ea typeface="Arial"/>
                <a:cs typeface="Arial"/>
              </a:rPr>
              <a:t>Adın verdiği ilham:</a:t>
            </a:r>
          </a:p>
          <a:p xmlns:a="http://schemas.openxmlformats.org/drawingml/2006/main">
            <a:pPr>
              <a:defRPr sz="2700" b="0">
                <a:solidFill>
                  <a:srgbClr val="142724"/>
                </a:solidFill>
                <a:latin typeface="Arial"/>
                <a:ea typeface="Arial"/>
                <a:cs typeface="Arial"/>
              </a:defRPr>
            </a:pPr>
            <a:r>
              <a:rPr sz="2700" b="0">
                <a:solidFill>
                  <a:srgbClr val="142724"/>
                </a:solidFill>
                <a:latin typeface="Arial"/>
                <a:ea typeface="Arial"/>
                <a:cs typeface="Arial"/>
              </a:rPr>
              <a:t>Bilgi arayan kişiye yol göstermek</a:t>
            </a:r>
          </a:p>
        </p:txBody>
      </p:sp>
    </p:spTree>
    <p:extLst>
      <p:ext uri="{BB962C8B-B14F-4D97-AF65-F5344CB8AC3E}">
        <p14:creationId xmlns:p14="http://schemas.microsoft.com/office/powerpoint/2010/main" val="1632093347"/>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07FBBC-78AB-46BA-B84E-7D7541F23EA0}"/>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Üniversitenin kurumsal hafızası</a:t>
            </a:r>
          </a:p>
        </p:txBody>
      </p:sp>
      <p:sp>
        <p:nvSpPr>
          <p:cNvPr id="2" name="">
            <a:extLst xmlns:a="http://schemas.openxmlformats.org/drawingml/2006/main">
              <a:ext uri="{FF2B5EF4-FFF2-40B4-BE49-F238E27FC236}">
                <a16:creationId xmlns:a16="http://schemas.microsoft.com/office/drawing/2014/main" id="{9D609E07-EB59-48D6-92ED-D57780D7D8F7}"/>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C84809A1-7682-4614-9395-AE276F7B66D8}"/>
              </a:ext>
            </a:extLst>
          </p:cNvPr>
          <p:cNvSpPr>
            <a:spLocks xmlns:a="http://schemas.openxmlformats.org/drawingml/2006/main" noGrp="1"/>
          </p:cNvSpPr>
          <p:nvPr/>
        </p:nvSpPr>
        <p:spPr>
          <a:xfrm xmlns:a="http://schemas.openxmlformats.org/drawingml/2006/main">
            <a:off x="762000" y="18573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1">
                <a:solidFill>
                  <a:srgbClr val="087B72"/>
                </a:solidFill>
                <a:latin typeface="Arial"/>
                <a:ea typeface="Arial"/>
                <a:cs typeface="Arial"/>
              </a:defRPr>
            </a:defPPr>
          </a:lstStyle>
          <a:p xmlns:a="http://schemas.openxmlformats.org/drawingml/2006/main">
            <a:pPr>
              <a:defRPr sz="2625" b="1">
                <a:solidFill>
                  <a:srgbClr val="087B72"/>
                </a:solidFill>
                <a:latin typeface="Arial"/>
                <a:ea typeface="Arial"/>
                <a:cs typeface="Arial"/>
              </a:defRPr>
            </a:pPr>
            <a:r>
              <a:rPr sz="2625" b="1">
                <a:solidFill>
                  <a:srgbClr val="087B72"/>
                </a:solidFill>
                <a:latin typeface="Arial"/>
                <a:ea typeface="Arial"/>
                <a:cs typeface="Arial"/>
              </a:rPr>
              <a:t>Öğrencinin sorusu</a:t>
            </a:r>
          </a:p>
        </p:txBody>
      </p:sp>
      <p:sp>
        <p:nvSpPr>
          <p:cNvPr id="4" name="">
            <a:extLst xmlns:a="http://schemas.openxmlformats.org/drawingml/2006/main">
              <a:ext uri="{FF2B5EF4-FFF2-40B4-BE49-F238E27FC236}">
                <a16:creationId xmlns:a16="http://schemas.microsoft.com/office/drawing/2014/main" id="{DA9EB967-D21D-4802-A538-9ECD671CEB78}"/>
              </a:ext>
            </a:extLst>
          </p:cNvPr>
          <p:cNvSpPr>
            <a:spLocks xmlns:a="http://schemas.openxmlformats.org/drawingml/2006/main" noGrp="1"/>
          </p:cNvSpPr>
          <p:nvPr/>
        </p:nvSpPr>
        <p:spPr>
          <a:xfrm xmlns:a="http://schemas.openxmlformats.org/drawingml/2006/main">
            <a:off x="762000" y="2562225"/>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42724"/>
                </a:solidFill>
                <a:latin typeface="Arial"/>
                <a:ea typeface="Arial"/>
                <a:cs typeface="Arial"/>
              </a:defRPr>
            </a:defPPr>
          </a:lstStyle>
          <a:p xmlns:a="http://schemas.openxmlformats.org/drawingml/2006/main">
            <a:pPr>
              <a:defRPr sz="3225" b="1">
                <a:solidFill>
                  <a:srgbClr val="142724"/>
                </a:solidFill>
                <a:latin typeface="Arial"/>
                <a:ea typeface="Arial"/>
                <a:cs typeface="Arial"/>
              </a:defRPr>
            </a:pPr>
            <a:r>
              <a:rPr sz="3225" b="1">
                <a:solidFill>
                  <a:srgbClr val="142724"/>
                </a:solidFill>
                <a:latin typeface="Arial"/>
                <a:ea typeface="Arial"/>
                <a:cs typeface="Arial"/>
              </a:rPr>
              <a:t>“Bu işlem için hangi şartlar gerekiyor?”</a:t>
            </a:r>
          </a:p>
        </p:txBody>
      </p:sp>
      <p:sp>
        <p:nvSpPr>
          <p:cNvPr id="5" name="">
            <a:extLst xmlns:a="http://schemas.openxmlformats.org/drawingml/2006/main">
              <a:ext uri="{FF2B5EF4-FFF2-40B4-BE49-F238E27FC236}">
                <a16:creationId xmlns:a16="http://schemas.microsoft.com/office/drawing/2014/main" id="{917E26BD-ABD9-4703-B8E9-33A274EFFC95}"/>
              </a:ext>
            </a:extLst>
          </p:cNvPr>
          <p:cNvSpPr>
            <a:spLocks xmlns:a="http://schemas.openxmlformats.org/drawingml/2006/main" noGrp="1"/>
          </p:cNvSpPr>
          <p:nvPr/>
        </p:nvSpPr>
        <p:spPr>
          <a:xfrm xmlns:a="http://schemas.openxmlformats.org/drawingml/2006/main">
            <a:off x="762000" y="4133850"/>
            <a:ext cx="10477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0">
                <a:solidFill>
                  <a:srgbClr val="435A56"/>
                </a:solidFill>
                <a:latin typeface="Arial"/>
                <a:ea typeface="Arial"/>
                <a:cs typeface="Arial"/>
              </a:defRPr>
            </a:defPPr>
          </a:lstStyle>
          <a:p xmlns:a="http://schemas.openxmlformats.org/drawingml/2006/main">
            <a:pPr>
              <a:defRPr sz="2625" b="0">
                <a:solidFill>
                  <a:srgbClr val="435A56"/>
                </a:solidFill>
                <a:latin typeface="Arial"/>
                <a:ea typeface="Arial"/>
                <a:cs typeface="Arial"/>
              </a:defRPr>
            </a:pPr>
            <a:r>
              <a:rPr sz="2625" b="0">
                <a:solidFill>
                  <a:srgbClr val="435A56"/>
                </a:solidFill>
                <a:latin typeface="Arial"/>
                <a:ea typeface="Arial"/>
                <a:cs typeface="Arial"/>
              </a:rPr>
              <a:t>Üniversitenin belgelerinden bir yanıt</a:t>
            </a:r>
          </a:p>
          <a:p xmlns:a="http://schemas.openxmlformats.org/drawingml/2006/main">
            <a:pPr>
              <a:defRPr sz="2625" b="0">
                <a:solidFill>
                  <a:srgbClr val="435A56"/>
                </a:solidFill>
                <a:latin typeface="Arial"/>
                <a:ea typeface="Arial"/>
                <a:cs typeface="Arial"/>
              </a:defRPr>
            </a:pPr>
            <a:r>
              <a:rPr sz="2625" b="0">
                <a:solidFill>
                  <a:srgbClr val="435A56"/>
                </a:solidFill>
                <a:latin typeface="Arial"/>
                <a:ea typeface="Arial"/>
                <a:cs typeface="Arial"/>
              </a:rPr>
              <a:t>ve o yanıtın dayandığı kaynağa bağlantı</a:t>
            </a:r>
          </a:p>
        </p:txBody>
      </p:sp>
    </p:spTree>
    <p:extLst>
      <p:ext uri="{BB962C8B-B14F-4D97-AF65-F5344CB8AC3E}">
        <p14:creationId xmlns:p14="http://schemas.microsoft.com/office/powerpoint/2010/main" val="2089980464"/>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2B9466-CDE7-41FC-8B9D-6E2096B4E4AC}"/>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Bir soru, cevabı ve kaynağı</a:t>
            </a:r>
          </a:p>
        </p:txBody>
      </p:sp>
      <p:sp>
        <p:nvSpPr>
          <p:cNvPr id="2" name="">
            <a:extLst xmlns:a="http://schemas.openxmlformats.org/drawingml/2006/main">
              <a:ext uri="{FF2B5EF4-FFF2-40B4-BE49-F238E27FC236}">
                <a16:creationId xmlns:a16="http://schemas.microsoft.com/office/drawing/2014/main" id="{27BED068-F71A-4F87-A41C-8A03125CDFFD}"/>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422F4570-5D50-4573-917B-8C8AC0435B7B}"/>
              </a:ext>
            </a:extLst>
          </p:cNvPr>
          <p:cNvSpPr>
            <a:spLocks xmlns:a="http://schemas.openxmlformats.org/drawingml/2006/main" noGrp="1"/>
          </p:cNvSpPr>
          <p:nvPr/>
        </p:nvSpPr>
        <p:spPr>
          <a:xfrm xmlns:a="http://schemas.openxmlformats.org/drawingml/2006/main">
            <a:off x="762000" y="1943100"/>
            <a:ext cx="67056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087B72"/>
                </a:solidFill>
                <a:latin typeface="Arial"/>
                <a:ea typeface="Arial"/>
                <a:cs typeface="Arial"/>
              </a:defRPr>
            </a:defPPr>
          </a:lstStyle>
          <a:p xmlns:a="http://schemas.openxmlformats.org/drawingml/2006/main">
            <a:pPr>
              <a:defRPr sz="3225" b="1">
                <a:solidFill>
                  <a:srgbClr val="087B72"/>
                </a:solidFill>
                <a:latin typeface="Arial"/>
                <a:ea typeface="Arial"/>
                <a:cs typeface="Arial"/>
              </a:defRPr>
            </a:pPr>
            <a:r>
              <a:rPr sz="3225" b="1">
                <a:solidFill>
                  <a:srgbClr val="087B72"/>
                </a:solidFill>
                <a:latin typeface="Arial"/>
                <a:ea typeface="Arial"/>
                <a:cs typeface="Arial"/>
              </a:rPr>
              <a:t>“Daha önce aldığım dersleri</a:t>
            </a:r>
          </a:p>
          <a:p xmlns:a="http://schemas.openxmlformats.org/drawingml/2006/main">
            <a:pPr>
              <a:defRPr sz="3225" b="1">
                <a:solidFill>
                  <a:srgbClr val="087B72"/>
                </a:solidFill>
                <a:latin typeface="Arial"/>
                <a:ea typeface="Arial"/>
                <a:cs typeface="Arial"/>
              </a:defRPr>
            </a:pPr>
            <a:r>
              <a:rPr sz="3225" b="1">
                <a:solidFill>
                  <a:srgbClr val="087B72"/>
                </a:solidFill>
                <a:latin typeface="Arial"/>
                <a:ea typeface="Arial"/>
                <a:cs typeface="Arial"/>
              </a:rPr>
              <a:t>saydırabilir miyim?”</a:t>
            </a:r>
          </a:p>
        </p:txBody>
      </p:sp>
      <p:sp>
        <p:nvSpPr>
          <p:cNvPr id="4" name="">
            <a:extLst xmlns:a="http://schemas.openxmlformats.org/drawingml/2006/main">
              <a:ext uri="{FF2B5EF4-FFF2-40B4-BE49-F238E27FC236}">
                <a16:creationId xmlns:a16="http://schemas.microsoft.com/office/drawing/2014/main" id="{69CFC1AC-01B6-4CC9-89F3-7DF48D21F1F3}"/>
              </a:ext>
            </a:extLst>
          </p:cNvPr>
          <p:cNvSpPr>
            <a:spLocks xmlns:a="http://schemas.openxmlformats.org/drawingml/2006/main" noGrp="1"/>
          </p:cNvSpPr>
          <p:nvPr/>
        </p:nvSpPr>
        <p:spPr>
          <a:xfrm xmlns:a="http://schemas.openxmlformats.org/drawingml/2006/main">
            <a:off x="762000" y="3752850"/>
            <a:ext cx="676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0">
                <a:solidFill>
                  <a:srgbClr val="142724"/>
                </a:solidFill>
                <a:latin typeface="Arial"/>
                <a:ea typeface="Arial"/>
                <a:cs typeface="Arial"/>
              </a:defRPr>
            </a:defPPr>
          </a:lstStyle>
          <a:p xmlns:a="http://schemas.openxmlformats.org/drawingml/2006/main">
            <a:pPr>
              <a:defRPr sz="2475" b="0">
                <a:solidFill>
                  <a:srgbClr val="142724"/>
                </a:solidFill>
                <a:latin typeface="Arial"/>
                <a:ea typeface="Arial"/>
                <a:cs typeface="Arial"/>
              </a:defRPr>
            </a:pPr>
            <a:r>
              <a:rPr sz="2475" b="0">
                <a:solidFill>
                  <a:srgbClr val="142724"/>
                </a:solidFill>
                <a:latin typeface="Arial"/>
                <a:ea typeface="Arial"/>
                <a:cs typeface="Arial"/>
              </a:rPr>
              <a:t>Koşulları özetler.</a:t>
            </a:r>
          </a:p>
          <a:p xmlns:a="http://schemas.openxmlformats.org/drawingml/2006/main">
            <a:pPr>
              <a:defRPr sz="2475" b="0">
                <a:solidFill>
                  <a:srgbClr val="142724"/>
                </a:solidFill>
                <a:latin typeface="Arial"/>
                <a:ea typeface="Arial"/>
                <a:cs typeface="Arial"/>
              </a:defRPr>
            </a:pPr>
            <a:r>
              <a:rPr sz="2475" b="0">
                <a:solidFill>
                  <a:srgbClr val="142724"/>
                </a:solidFill>
                <a:latin typeface="Arial"/>
                <a:ea typeface="Arial"/>
                <a:cs typeface="Arial"/>
              </a:rPr>
              <a:t>Dayandığı yönetmeliği gösterir.</a:t>
            </a:r>
          </a:p>
        </p:txBody>
      </p:sp>
      <p:sp>
        <p:nvSpPr>
          <p:cNvPr id="5" name="">
            <a:extLst xmlns:a="http://schemas.openxmlformats.org/drawingml/2006/main">
              <a:ext uri="{FF2B5EF4-FFF2-40B4-BE49-F238E27FC236}">
                <a16:creationId xmlns:a16="http://schemas.microsoft.com/office/drawing/2014/main" id="{26F7720D-A0F1-4FBB-930D-2356FF395B74}"/>
              </a:ext>
            </a:extLst>
          </p:cNvPr>
          <p:cNvSpPr>
            <a:spLocks xmlns:a="http://schemas.openxmlformats.org/drawingml/2006/main" noGrp="1"/>
          </p:cNvSpPr>
          <p:nvPr/>
        </p:nvSpPr>
        <p:spPr>
          <a:xfrm xmlns:a="http://schemas.openxmlformats.org/drawingml/2006/main">
            <a:off x="762000" y="5629275"/>
            <a:ext cx="666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087B72"/>
                </a:solidFill>
                <a:latin typeface="Arial"/>
                <a:ea typeface="Arial"/>
                <a:cs typeface="Arial"/>
              </a:defRPr>
            </a:defPPr>
          </a:lstStyle>
          <a:p xmlns:a="http://schemas.openxmlformats.org/drawingml/2006/main">
            <a:pPr>
              <a:defRPr sz="2700" b="1">
                <a:solidFill>
                  <a:srgbClr val="087B72"/>
                </a:solidFill>
                <a:latin typeface="Arial"/>
                <a:ea typeface="Arial"/>
                <a:cs typeface="Arial"/>
              </a:defRPr>
            </a:pPr>
            <a:r>
              <a:rPr sz="2700" b="1">
                <a:solidFill>
                  <a:srgbClr val="087B72"/>
                </a:solidFill>
                <a:latin typeface="Arial"/>
                <a:ea typeface="Arial"/>
                <a:cs typeface="Arial"/>
                <a:hlinkClick xmlns:r="http://schemas.openxmlformats.org/officeDocument/2006/relationships" r:id="Racfcdbcf6cc24ad4"/>
              </a:rPr>
              <a:t>bakai.manas.edu.kg</a:t>
            </a:r>
          </a:p>
        </p:txBody>
      </p:sp>
      <p:pic>
        <p:nvPicPr>
          <p:cNvPr id="6" name="">
            <a:extLst xmlns:a="http://schemas.openxmlformats.org/drawingml/2006/main">
              <a:ext uri="{FF2B5EF4-FFF2-40B4-BE49-F238E27FC236}">
                <a16:creationId xmlns:a16="http://schemas.microsoft.com/office/drawing/2014/main" id="{F403C808-D93B-4D7A-A080-C49F0AD77BF6}"/>
              </a:ext>
            </a:extLst>
          </p:cNvPr>
          <p:cNvPicPr>
            <a:picLocks xmlns:a="http://schemas.openxmlformats.org/drawingml/2006/main" noChangeAspect="1"/>
          </p:cNvPicPr>
          <p:nvPr/>
        </p:nvPicPr>
        <p:blipFill>
          <a:blip xmlns:r="http://schemas.openxmlformats.org/officeDocument/2006/relationships" xmlns:a="http://schemas.openxmlformats.org/drawingml/2006/main" r:embed="R07bcb3c669f948d4"/>
          <a:stretch xmlns:a="http://schemas.openxmlformats.org/drawingml/2006/main"/>
        </p:blipFill>
        <p:spPr>
          <a:xfrm xmlns:a="http://schemas.openxmlformats.org/drawingml/2006/main">
            <a:off x="8182701" y="1381125"/>
            <a:ext cx="2722698" cy="4962525"/>
          </a:xfrm>
          <a:prstGeom xmlns:a="http://schemas.openxmlformats.org/drawingml/2006/main" prst="rect">
            <a:avLst/>
          </a:prstGeom>
        </p:spPr>
      </p:pic>
    </p:spTree>
    <p:extLst>
      <p:ext uri="{BB962C8B-B14F-4D97-AF65-F5344CB8AC3E}">
        <p14:creationId xmlns:p14="http://schemas.microsoft.com/office/powerpoint/2010/main" val="1417461138"/>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E6ACF0E-C642-4529-A936-0AAD4763AC10}"/>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724"/>
                </a:solidFill>
                <a:latin typeface="Arial"/>
                <a:ea typeface="Arial"/>
                <a:cs typeface="Arial"/>
              </a:defRPr>
            </a:defPPr>
          </a:lstStyle>
          <a:p xmlns:a="http://schemas.openxmlformats.org/drawingml/2006/main">
            <a:pPr>
              <a:defRPr sz="3300" b="1">
                <a:solidFill>
                  <a:srgbClr val="142724"/>
                </a:solidFill>
                <a:latin typeface="Arial"/>
                <a:ea typeface="Arial"/>
                <a:cs typeface="Arial"/>
              </a:defRPr>
            </a:pPr>
            <a:r>
              <a:rPr sz="3300" b="1">
                <a:solidFill>
                  <a:srgbClr val="142724"/>
                </a:solidFill>
                <a:latin typeface="Arial"/>
                <a:ea typeface="Arial"/>
                <a:cs typeface="Arial"/>
              </a:rPr>
              <a:t>Çalışan uygulama hazır</a:t>
            </a:r>
          </a:p>
        </p:txBody>
      </p:sp>
      <p:sp>
        <p:nvSpPr>
          <p:cNvPr id="2" name="">
            <a:extLst xmlns:a="http://schemas.openxmlformats.org/drawingml/2006/main">
              <a:ext uri="{FF2B5EF4-FFF2-40B4-BE49-F238E27FC236}">
                <a16:creationId xmlns:a16="http://schemas.microsoft.com/office/drawing/2014/main" id="{E2E5EA71-6B25-4E8F-ADF3-63EE10D6702A}"/>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435A56"/>
                </a:solidFill>
                <a:latin typeface="Arial"/>
                <a:ea typeface="Arial"/>
                <a:cs typeface="Arial"/>
              </a:defRPr>
            </a:defPPr>
          </a:lstStyle>
          <a:p xmlns:a="http://schemas.openxmlformats.org/drawingml/2006/main">
            <a:pPr>
              <a:defRPr sz="1275" b="0">
                <a:solidFill>
                  <a:srgbClr val="435A56"/>
                </a:solidFill>
                <a:latin typeface="Arial"/>
                <a:ea typeface="Arial"/>
                <a:cs typeface="Arial"/>
              </a:defRPr>
            </a:pPr>
            <a:r>
              <a:rPr sz="1275" b="0">
                <a:solidFill>
                  <a:srgbClr val="435A56"/>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5E103762-FE82-4A78-8ABE-A00BE1D2C484}"/>
              </a:ext>
            </a:extLst>
          </p:cNvPr>
          <p:cNvSpPr>
            <a:spLocks xmlns:a="http://schemas.openxmlformats.org/drawingml/2006/main" noGrp="1"/>
          </p:cNvSpPr>
          <p:nvPr/>
        </p:nvSpPr>
        <p:spPr>
          <a:xfrm xmlns:a="http://schemas.openxmlformats.org/drawingml/2006/main">
            <a:off x="762000" y="1819275"/>
            <a:ext cx="10572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087B72"/>
                </a:solidFill>
                <a:latin typeface="Arial"/>
                <a:ea typeface="Arial"/>
                <a:cs typeface="Arial"/>
              </a:defRPr>
            </a:defPPr>
          </a:lstStyle>
          <a:p xmlns:a="http://schemas.openxmlformats.org/drawingml/2006/main">
            <a:pPr>
              <a:defRPr sz="3225" b="1">
                <a:solidFill>
                  <a:srgbClr val="087B72"/>
                </a:solidFill>
                <a:latin typeface="Arial"/>
                <a:ea typeface="Arial"/>
                <a:cs typeface="Arial"/>
              </a:defRPr>
            </a:pPr>
            <a:r>
              <a:rPr sz="3225" b="1">
                <a:solidFill>
                  <a:srgbClr val="087B72"/>
                </a:solidFill>
                <a:latin typeface="Arial"/>
                <a:ea typeface="Arial"/>
                <a:cs typeface="Arial"/>
              </a:rPr>
              <a:t>Üniversite sunucusunda çalışıyor</a:t>
            </a:r>
          </a:p>
        </p:txBody>
      </p:sp>
      <p:sp>
        <p:nvSpPr>
          <p:cNvPr id="4" name="">
            <a:extLst xmlns:a="http://schemas.openxmlformats.org/drawingml/2006/main">
              <a:ext uri="{FF2B5EF4-FFF2-40B4-BE49-F238E27FC236}">
                <a16:creationId xmlns:a16="http://schemas.microsoft.com/office/drawing/2014/main" id="{C6E0B4D7-B6BF-47E8-8616-5FF8DF133210}"/>
              </a:ext>
            </a:extLst>
          </p:cNvPr>
          <p:cNvSpPr>
            <a:spLocks xmlns:a="http://schemas.openxmlformats.org/drawingml/2006/main" noGrp="1"/>
          </p:cNvSpPr>
          <p:nvPr/>
        </p:nvSpPr>
        <p:spPr>
          <a:xfrm xmlns:a="http://schemas.openxmlformats.org/drawingml/2006/main">
            <a:off x="762000" y="3124200"/>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b="0">
                <a:solidFill>
                  <a:srgbClr val="142724"/>
                </a:solidFill>
                <a:latin typeface="Arial"/>
                <a:ea typeface="Arial"/>
                <a:cs typeface="Arial"/>
              </a:defRPr>
            </a:defPPr>
          </a:lstStyle>
          <a:p xmlns:a="http://schemas.openxmlformats.org/drawingml/2006/main">
            <a:pPr>
              <a:defRPr sz="2625" b="0">
                <a:solidFill>
                  <a:srgbClr val="142724"/>
                </a:solidFill>
                <a:latin typeface="Arial"/>
                <a:ea typeface="Arial"/>
                <a:cs typeface="Arial"/>
              </a:defRPr>
            </a:pPr>
            <a:r>
              <a:rPr sz="2625" b="0">
                <a:solidFill>
                  <a:srgbClr val="142724"/>
                </a:solidFill>
                <a:latin typeface="Arial"/>
                <a:ea typeface="Arial"/>
                <a:cs typeface="Arial"/>
              </a:rPr>
              <a:t>Kullanım ve gider takibi var.</a:t>
            </a:r>
          </a:p>
          <a:p xmlns:a="http://schemas.openxmlformats.org/drawingml/2006/main">
            <a:pPr>
              <a:defRPr sz="2625" b="0">
                <a:solidFill>
                  <a:srgbClr val="142724"/>
                </a:solidFill>
                <a:latin typeface="Arial"/>
                <a:ea typeface="Arial"/>
                <a:cs typeface="Arial"/>
              </a:defRPr>
            </a:pPr>
            <a:r>
              <a:rPr sz="2625" b="0">
                <a:solidFill>
                  <a:srgbClr val="142724"/>
                </a:solidFill>
                <a:latin typeface="Arial"/>
                <a:ea typeface="Arial"/>
                <a:cs typeface="Arial"/>
              </a:rPr>
              <a:t>Her gün yedek alıyoruz.</a:t>
            </a:r>
          </a:p>
        </p:txBody>
      </p:sp>
      <p:sp>
        <p:nvSpPr>
          <p:cNvPr id="5" name="">
            <a:extLst xmlns:a="http://schemas.openxmlformats.org/drawingml/2006/main">
              <a:ext uri="{FF2B5EF4-FFF2-40B4-BE49-F238E27FC236}">
                <a16:creationId xmlns:a16="http://schemas.microsoft.com/office/drawing/2014/main" id="{D8C1E8DC-8685-4A53-A12F-9D983BDF98E8}"/>
              </a:ext>
            </a:extLst>
          </p:cNvPr>
          <p:cNvSpPr>
            <a:spLocks xmlns:a="http://schemas.openxmlformats.org/drawingml/2006/main" noGrp="1"/>
          </p:cNvSpPr>
          <p:nvPr/>
        </p:nvSpPr>
        <p:spPr>
          <a:xfrm xmlns:a="http://schemas.openxmlformats.org/drawingml/2006/main">
            <a:off x="762000" y="4857750"/>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435A56"/>
                </a:solidFill>
                <a:latin typeface="Arial"/>
                <a:ea typeface="Arial"/>
                <a:cs typeface="Arial"/>
              </a:defRPr>
            </a:defPPr>
          </a:lstStyle>
          <a:p xmlns:a="http://schemas.openxmlformats.org/drawingml/2006/main">
            <a:pPr>
              <a:defRPr sz="2550" b="0">
                <a:solidFill>
                  <a:srgbClr val="435A56"/>
                </a:solidFill>
                <a:latin typeface="Arial"/>
                <a:ea typeface="Arial"/>
                <a:cs typeface="Arial"/>
              </a:defRPr>
            </a:pPr>
            <a:r>
              <a:rPr sz="2550" b="0">
                <a:solidFill>
                  <a:srgbClr val="435A56"/>
                </a:solidFill>
                <a:latin typeface="Arial"/>
                <a:ea typeface="Arial"/>
                <a:cs typeface="Arial"/>
              </a:rPr>
              <a:t>Önemli işlemlerde kaynak belge</a:t>
            </a:r>
          </a:p>
          <a:p xmlns:a="http://schemas.openxmlformats.org/drawingml/2006/main">
            <a:pPr>
              <a:defRPr sz="2550" b="0">
                <a:solidFill>
                  <a:srgbClr val="435A56"/>
                </a:solidFill>
                <a:latin typeface="Arial"/>
                <a:ea typeface="Arial"/>
                <a:cs typeface="Arial"/>
              </a:defRPr>
            </a:pPr>
            <a:r>
              <a:rPr sz="2550" b="0">
                <a:solidFill>
                  <a:srgbClr val="435A56"/>
                </a:solidFill>
                <a:latin typeface="Arial"/>
                <a:ea typeface="Arial"/>
                <a:cs typeface="Arial"/>
              </a:rPr>
              <a:t>ve yetkili birim esas alınır.</a:t>
            </a:r>
          </a:p>
        </p:txBody>
      </p:sp>
    </p:spTree>
    <p:extLst>
      <p:ext uri="{BB962C8B-B14F-4D97-AF65-F5344CB8AC3E}">
        <p14:creationId xmlns:p14="http://schemas.microsoft.com/office/powerpoint/2010/main" val="606635545"/>
      </p:ext>
    </p:extLst>
  </p:cSld>
</p:sld>
</file>

<file path=ppt/slides/slide6.xml><?xml version="1.0" encoding="utf-8"?>
<p:sld xmlns:p="http://schemas.openxmlformats.org/presentationml/2006/main">
  <p:cSld>
    <p:bg>
      <p:bgPr>
        <a:solidFill xmlns:a="http://schemas.openxmlformats.org/drawingml/2006/main">
          <a:srgbClr val="14272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801700-0EBA-4A3B-8C4F-3740415DFAAE}"/>
              </a:ext>
            </a:extLst>
          </p:cNvPr>
          <p:cNvSpPr>
            <a:spLocks xmlns:a="http://schemas.openxmlformats.org/drawingml/2006/main" noGrp="1"/>
          </p:cNvSpPr>
          <p:nvPr/>
        </p:nvSpPr>
        <p:spPr>
          <a:xfrm xmlns:a="http://schemas.openxmlformats.org/drawingml/2006/main">
            <a:off x="723900" y="590550"/>
            <a:ext cx="1074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FFFFFF"/>
                </a:solidFill>
                <a:latin typeface="Arial"/>
                <a:ea typeface="Arial"/>
                <a:cs typeface="Arial"/>
              </a:defRPr>
            </a:def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Birimlerin bilgisiyle geliştirelim</a:t>
            </a:r>
          </a:p>
        </p:txBody>
      </p:sp>
      <p:sp>
        <p:nvSpPr>
          <p:cNvPr id="2" name="">
            <a:extLst xmlns:a="http://schemas.openxmlformats.org/drawingml/2006/main">
              <a:ext uri="{FF2B5EF4-FFF2-40B4-BE49-F238E27FC236}">
                <a16:creationId xmlns:a16="http://schemas.microsoft.com/office/drawing/2014/main" id="{688A1CDA-2879-430D-B948-4C3AE6CF5705}"/>
              </a:ext>
            </a:extLst>
          </p:cNvPr>
          <p:cNvSpPr>
            <a:spLocks xmlns:a="http://schemas.openxmlformats.org/drawingml/2006/main" noGrp="1"/>
          </p:cNvSpPr>
          <p:nvPr/>
        </p:nvSpPr>
        <p:spPr>
          <a:xfrm xmlns:a="http://schemas.openxmlformats.org/drawingml/2006/main">
            <a:off x="11049000" y="63150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C4D2CE"/>
                </a:solidFill>
                <a:latin typeface="Arial"/>
                <a:ea typeface="Arial"/>
                <a:cs typeface="Arial"/>
              </a:defRPr>
            </a:defPPr>
          </a:lstStyle>
          <a:p xmlns:a="http://schemas.openxmlformats.org/drawingml/2006/main">
            <a:pPr>
              <a:defRPr sz="1275" b="0">
                <a:solidFill>
                  <a:srgbClr val="C4D2CE"/>
                </a:solidFill>
                <a:latin typeface="Arial"/>
                <a:ea typeface="Arial"/>
                <a:cs typeface="Arial"/>
              </a:defRPr>
            </a:pPr>
            <a:r>
              <a:rPr sz="1275" b="0">
                <a:solidFill>
                  <a:srgbClr val="C4D2CE"/>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73FC4612-9682-4990-8D3B-261DBB4799A4}"/>
              </a:ext>
            </a:extLst>
          </p:cNvPr>
          <p:cNvSpPr>
            <a:spLocks xmlns:a="http://schemas.openxmlformats.org/drawingml/2006/main" noGrp="1"/>
          </p:cNvSpPr>
          <p:nvPr/>
        </p:nvSpPr>
        <p:spPr>
          <a:xfrm xmlns:a="http://schemas.openxmlformats.org/drawingml/2006/main">
            <a:off x="762000" y="1847850"/>
            <a:ext cx="1057275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Gerçek sorular</a:t>
            </a:r>
          </a:p>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Doğru cevaplar</a:t>
            </a:r>
          </a:p>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Güncel kaynaklar</a:t>
            </a:r>
          </a:p>
        </p:txBody>
      </p:sp>
      <p:sp>
        <p:nvSpPr>
          <p:cNvPr id="4" name="">
            <a:extLst xmlns:a="http://schemas.openxmlformats.org/drawingml/2006/main">
              <a:ext uri="{FF2B5EF4-FFF2-40B4-BE49-F238E27FC236}">
                <a16:creationId xmlns:a16="http://schemas.microsoft.com/office/drawing/2014/main" id="{C460D69F-DA00-4AC3-85BA-E05766930E48}"/>
              </a:ext>
            </a:extLst>
          </p:cNvPr>
          <p:cNvSpPr>
            <a:spLocks xmlns:a="http://schemas.openxmlformats.org/drawingml/2006/main" noGrp="1"/>
          </p:cNvSpPr>
          <p:nvPr/>
        </p:nvSpPr>
        <p:spPr>
          <a:xfrm xmlns:a="http://schemas.openxmlformats.org/drawingml/2006/main">
            <a:off x="762000" y="4552950"/>
            <a:ext cx="10572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0">
                <a:solidFill>
                  <a:srgbClr val="C4D2CE"/>
                </a:solidFill>
                <a:latin typeface="Arial"/>
                <a:ea typeface="Arial"/>
                <a:cs typeface="Arial"/>
              </a:defRPr>
            </a:defPPr>
          </a:lstStyle>
          <a:p xmlns:a="http://schemas.openxmlformats.org/drawingml/2006/main">
            <a:pPr>
              <a:defRPr sz="2550" b="0">
                <a:solidFill>
                  <a:srgbClr val="C4D2CE"/>
                </a:solidFill>
                <a:latin typeface="Arial"/>
                <a:ea typeface="Arial"/>
                <a:cs typeface="Arial"/>
              </a:defRPr>
            </a:pPr>
            <a:r>
              <a:rPr sz="2550" b="0">
                <a:solidFill>
                  <a:srgbClr val="C4D2CE"/>
                </a:solidFill>
                <a:latin typeface="Arial"/>
                <a:ea typeface="Arial"/>
                <a:cs typeface="Arial"/>
              </a:rPr>
              <a:t>Rektörlüğün yönlendirmesiyle</a:t>
            </a:r>
          </a:p>
          <a:p xmlns:a="http://schemas.openxmlformats.org/drawingml/2006/main">
            <a:pPr>
              <a:defRPr sz="2550" b="0">
                <a:solidFill>
                  <a:srgbClr val="C4D2CE"/>
                </a:solidFill>
                <a:latin typeface="Arial"/>
                <a:ea typeface="Arial"/>
                <a:cs typeface="Arial"/>
              </a:defRPr>
            </a:pPr>
            <a:r>
              <a:rPr sz="2550" b="0">
                <a:solidFill>
                  <a:srgbClr val="C4D2CE"/>
                </a:solidFill>
                <a:latin typeface="Arial"/>
                <a:ea typeface="Arial"/>
                <a:cs typeface="Arial"/>
              </a:rPr>
              <a:t>ilgili birimlerin değerlendirmeye katılması</a:t>
            </a:r>
          </a:p>
        </p:txBody>
      </p:sp>
    </p:spTree>
    <p:extLst>
      <p:ext uri="{BB962C8B-B14F-4D97-AF65-F5344CB8AC3E}">
        <p14:creationId xmlns:p14="http://schemas.microsoft.com/office/powerpoint/2010/main" val="17913613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2026-10-18T11:47:22.3840000Z</dcterms:created>
  <dcterms:modified xsi:type="dcterms:W3CDTF">2026-10-18T11:47:22.3840000Z</dcterms:modified>
</coreProperties>
</file>