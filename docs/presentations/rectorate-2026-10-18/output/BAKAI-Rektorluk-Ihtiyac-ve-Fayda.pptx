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9dac016cf44bb5" /><Relationship Type="http://schemas.openxmlformats.org/officeDocument/2006/relationships/extended-properties" Target="/docProps/app.xml" Id="R6ccf9d551df44fb8" /><Relationship Type="http://schemas.openxmlformats.org/officeDocument/2006/relationships/officeDocument" Target="/ppt/presentation.xml" Id="R6d445f6bcce347fe" /></Relationships>
</file>

<file path=ppt/presentation.xml><?xml version="1.0" encoding="utf-8"?>
<p:presentation xmlns:p="http://schemas.openxmlformats.org/presentationml/2006/main">
  <p:sldMasterIdLst>
    <p:sldMasterId xmlns:r="http://schemas.openxmlformats.org/officeDocument/2006/relationships" id="2147483648" r:id="Re26960077115430a"/>
  </p:sldMasterIdLst>
  <p:notesMasterIdLst>
    <p:notesMasterId xmlns:r="http://schemas.openxmlformats.org/officeDocument/2006/relationships" r:id="Rbc7b242be1d5420a"/>
  </p:notesMasterIdLst>
  <p:sldIdLst>
    <p:sldId xmlns:r="http://schemas.openxmlformats.org/officeDocument/2006/relationships" id="256" r:id="Rf9067b2d29364633"/>
    <p:sldId xmlns:r="http://schemas.openxmlformats.org/officeDocument/2006/relationships" id="257" r:id="Rb33826bdbe5e46d9"/>
    <p:sldId xmlns:r="http://schemas.openxmlformats.org/officeDocument/2006/relationships" id="258" r:id="R16d473178aa64541"/>
    <p:sldId xmlns:r="http://schemas.openxmlformats.org/officeDocument/2006/relationships" id="259" r:id="R90f1f9307d704a21"/>
    <p:sldId xmlns:r="http://schemas.openxmlformats.org/officeDocument/2006/relationships" id="260" r:id="R0ff1f83274bb43da"/>
    <p:sldId xmlns:r="http://schemas.openxmlformats.org/officeDocument/2006/relationships" id="261" r:id="R49f2c3fcf6c648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55aedec3e14ffe" /><Relationship Type="http://schemas.openxmlformats.org/officeDocument/2006/relationships/slideMaster" Target="/ppt/slideMasters/slideMaster1.xml" Id="Re26960077115430a" /><Relationship Type="http://schemas.openxmlformats.org/officeDocument/2006/relationships/notesMaster" Target="/ppt/notesMasters/notesMaster1.xml" Id="Rbc7b242be1d5420a" /><Relationship Type="http://schemas.openxmlformats.org/officeDocument/2006/relationships/presProps" Target="/ppt/presProps.xml" Id="Rfac21f9760014ecf" /><Relationship Type="http://schemas.openxmlformats.org/officeDocument/2006/relationships/tableStyles" Target="/ppt/tableStyles.xml" Id="R3bac0a7b0ece43a6" /><Relationship Type="http://schemas.openxmlformats.org/officeDocument/2006/relationships/slide" Target="/ppt/slides/slide1.xml" Id="Rf9067b2d29364633" /><Relationship Type="http://schemas.openxmlformats.org/officeDocument/2006/relationships/slide" Target="/ppt/slides/slide2.xml" Id="Rb33826bdbe5e46d9" /><Relationship Type="http://schemas.openxmlformats.org/officeDocument/2006/relationships/slide" Target="/ppt/slides/slide3.xml" Id="R16d473178aa64541" /><Relationship Type="http://schemas.openxmlformats.org/officeDocument/2006/relationships/slide" Target="/ppt/slides/slide4.xml" Id="R90f1f9307d704a21" /><Relationship Type="http://schemas.openxmlformats.org/officeDocument/2006/relationships/slide" Target="/ppt/slides/slide5.xml" Id="R0ff1f83274bb43da" /><Relationship Type="http://schemas.openxmlformats.org/officeDocument/2006/relationships/slide" Target="/ppt/slides/slide6.xml" Id="R49f2c3fcf6c648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8ee92e350046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ba98e552f84c16" /><Relationship Type="http://schemas.openxmlformats.org/officeDocument/2006/relationships/notesMaster" Target="/ppt/notesMasters/notesMaster1.xml" Id="Rf1ddf6b3d17145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a93f95158b4fff" /><Relationship Type="http://schemas.openxmlformats.org/officeDocument/2006/relationships/notesMaster" Target="/ppt/notesMasters/notesMaster1.xml" Id="R2938841f02884c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dceacf481e414c" /><Relationship Type="http://schemas.openxmlformats.org/officeDocument/2006/relationships/notesMaster" Target="/ppt/notesMasters/notesMaster1.xml" Id="Ra7cd8a3cf19548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38ed4d4cf24125" /><Relationship Type="http://schemas.openxmlformats.org/officeDocument/2006/relationships/notesMaster" Target="/ppt/notesMasters/notesMaster1.xml" Id="Ra577aec55ada48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2eb99c4f164767" /><Relationship Type="http://schemas.openxmlformats.org/officeDocument/2006/relationships/notesMaster" Target="/ppt/notesMasters/notesMaster1.xml" Id="Rb314c7bb788042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8241a54c9f48be" /><Relationship Type="http://schemas.openxmlformats.org/officeDocument/2006/relationships/notesMaster" Target="/ppt/notesMasters/notesMaster1.xml" Id="Rf32deb049b0743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30 saniye. Sayın Rektörüm, geçen yıl idari personelimize verdiğim eğitimde, benzer sorulara tekrar tekrar cevap vermenin kendilerini yorduğunu dile getirdiler. BAKAI ile bu rutin bilgi yükünü hafifletmeyi ve aday öğrencilerimizin üniversitemiz hakkında daha hızlı bilgiye ulaşmasını amaçlıyoruz. Bu uygulamayı üniversitemizin BAP desteği kapsamında geliştirdim.</a:t>
            </a:r>
          </a:p>
          <a:p xmlns:a="http://schemas.openxmlformats.org/drawingml/2006/main">
            <a:r>
              <a:t/>
            </a:r>
          </a:p>
          <a:p xmlns:a="http://schemas.openxmlformats.org/drawingml/2006/main">
            <a:r>
              <a:t>Kaynaklar:</a:t>
            </a:r>
          </a:p>
          <a:p xmlns:a="http://schemas.openxmlformats.org/drawingml/2006/main">
            <a:r>
              <a:t>Proje yürütücüsünün geçen yıl idari personele verdiği eğitimden aktardığı geri bildirim; 18 Ekim 2026 kullanıcı beyanı</a:t>
            </a:r>
          </a:p>
          <a:p xmlns:a="http://schemas.openxmlformats.org/drawingml/2006/main">
            <a:r>
              <a:t>https://bakai.manas.edu.kg/hakkinda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40 saniye. Geçen yıl idari personele verdiğim eğitimde çalışanlarımız, tekrar tekrar soru cevaplamaktan yorulduklarını anlattılar. Bu, aynı bilginin her seferinde yeniden aktarılmasının personel üzerindeki yükünü görünür kılıyor. Diğer tarafta aday öğrenci var: üniversiteyi tanımak, başvuru veya barınma gibi konularda bilgi almak istiyor. İki ihtiyacı birlikte ele alıyoruz: personelin tekrarlanan bilgi verme yükünü azaltmak ve adayın üniversite hakkında bilgiye erişimini kolaylaştırmak. Eğitim geri bildirimi yürütücünün gözlemidir; kurum genelinde yapılmış nicel bir araştırma ya da doğrudan alıntı olarak sunulmaz.</a:t>
            </a:r>
          </a:p>
          <a:p xmlns:a="http://schemas.openxmlformats.org/drawingml/2006/main">
            <a:r>
              <a:t/>
            </a:r>
          </a:p>
          <a:p xmlns:a="http://schemas.openxmlformats.org/drawingml/2006/main">
            <a:r>
              <a:t>Kaynaklar:</a:t>
            </a:r>
          </a:p>
          <a:p xmlns:a="http://schemas.openxmlformats.org/drawingml/2006/main">
            <a:r>
              <a:t>Proje yürütücüsünün aktardığı eğitim geri bildirimi ve aday öğrenci ihtiyacı; 18 Ekim 2026 kullanıcı beyanı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40 saniye. Kullanıcı sorusunu kendi cümlesiyle yazıyor. BAKAI mevcut üniversite kaynaklarından bir cevap hazırlıyor ve dayandığı belgeyi gösteriyor. Hedefimiz rutin bilgi sorularında ilk başvuru noktası olmak. Böylece personelimizin aynı bilgiyi tekrar anlatma yükünün hafiflemesini, aday öğrencinin de farklı sayfalarda aramak yerine daha hızlı bilgiye ulaşmasını bekliyoruz. Bunlar hedeflenen faydalardır; henüz iş yükünde azalma veya zaman kazancı ölçülmedi. Aday öğrenci örnek konuları genel kullanım ihtiyacını anlatır; her konuda kaynak kapsamının tamamlandığı veya her sorunun doğru cevaplanacağı iddia edilmez. Özel durumlar ve önemli işlemler yetkili birim tarafından değerlendirilir.</a:t>
            </a:r>
          </a:p>
          <a:p xmlns:a="http://schemas.openxmlformats.org/drawingml/2006/main">
            <a:r>
              <a:t/>
            </a:r>
          </a:p>
          <a:p xmlns:a="http://schemas.openxmlformats.org/drawingml/2006/main">
            <a:r>
              <a:t>Kaynaklar:</a:t>
            </a:r>
          </a:p>
          <a:p xmlns:a="http://schemas.openxmlformats.org/drawingml/2006/main">
            <a:r>
              <a:t>README.md</a:t>
            </a:r>
          </a:p>
          <a:p xmlns:a="http://schemas.openxmlformats.org/drawingml/2006/main">
            <a:r>
              <a:t>backend/app/rag/pipeline.py</a:t>
            </a:r>
          </a:p>
          <a:p xmlns:a="http://schemas.openxmlformats.org/drawingml/2006/main">
            <a:r>
              <a:t>18 Ekim 2026 kullanıcı beyanı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25 saniye, ardından 90 saniyelik demo. Ana ihtiyaç aday öğrencinin hızlı bilgiye erişimi ve personelin rutin sorularının hafiflemesi. Sistemin soru, cevap ve kaynak akışını göstermek için elimizdeki gerçek ders saydırma örneğini açıyoruz. Bu örnek mevcut bir öğrencinin sorusudur; aday öğrenci örneği diye tanıtmayın. BAKAI koşulları özetliyor ve yönetmelik bağlantısını gösteriyor. Kayıtlı yanıtı gösterip belgeye geçin; yeni soru sormak zorunlu değil. Gecikirse bu slayttaki görüntüyle devam edin. Örnek genel doğruluk kanıtı değildir; ilgili birimlerin kalite değerlendirmesi sonraki adımdır.</a:t>
            </a:r>
          </a:p>
          <a:p xmlns:a="http://schemas.openxmlformats.org/drawingml/2006/main">
            <a:r>
              <a:t/>
            </a:r>
          </a:p>
          <a:p xmlns:a="http://schemas.openxmlformats.org/drawingml/2006/main">
            <a:r>
              <a:t>Kaynaklar:</a:t>
            </a:r>
          </a:p>
          <a:p xmlns:a="http://schemas.openxmlformats.org/drawingml/2006/main">
            <a:r>
              <a:t>https://bakai.manas.edu.kg/</a:t>
            </a:r>
          </a:p>
          <a:p xmlns:a="http://schemas.openxmlformats.org/drawingml/2006/main">
            <a:r>
              <a:t>assets/bakai-ornek-yanit.png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35 saniye. İsim, Manas Destanı’ndaki bilge danışman Bakay’dan geliyor. Yol gösterici karakter, kurumsal bilgiye rehberlik etme fikrine ilham verdi. Kültürel mirasımızla güncel bir ihtiyacı buluşturmak istedik. Bu, üniversitemizin BAP desteği kapsamında benim geliştirdiğim bir uygulama; proje numarası KTMU-BAP-2026.FB.05. BAP başvurusundaki resmî ad BAKAY olarak korunuyor. Uygulama kurum sunucusunda çalışıyor, kullanım ve gider takibi ile günlük yedekleme hazır. Teknik ayrıntılar sorulursa ek notlara geçin: uygulama ve indeks kurumda, yanıt üretiminde soru ve ilgili alıntılar haricî Anthropic hizmetinde işlenir. Kültürel benzetme sisteme mutlak doğruluk atfetmez.</a:t>
            </a:r>
          </a:p>
          <a:p xmlns:a="http://schemas.openxmlformats.org/drawingml/2006/main">
            <a:r>
              <a:t/>
            </a:r>
          </a:p>
          <a:p xmlns:a="http://schemas.openxmlformats.org/drawingml/2006/main">
            <a:r>
              <a:t>Kaynaklar:</a:t>
            </a:r>
          </a:p>
          <a:p xmlns:a="http://schemas.openxmlformats.org/drawingml/2006/main">
            <a:r>
              <a:t>https://bakai.manas.edu.kg/hakkinda</a:t>
            </a:r>
          </a:p>
          <a:p xmlns:a="http://schemas.openxmlformats.org/drawingml/2006/main">
            <a:r>
              <a:t>frontend/app/lib/project.ts</a:t>
            </a:r>
          </a:p>
          <a:p xmlns:a="http://schemas.openxmlformats.org/drawingml/2006/main">
            <a:r>
              <a:t>docs/deployment/operations.md</a:t>
            </a:r>
          </a:p>
          <a:p xmlns:a="http://schemas.openxmlformats.org/drawingml/2006/main">
            <a:r>
              <a:t>backend/app/rag/llm.py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40 saniye. Sayın Rektörüm, bir sonraki adımda ilgili birimlerimizden en sık karşılaştıkları gerçek soruları, doğru cevaplarını ve güncel kaynaklarını isteyebiliriz. Özellikle aday öğrenciye bilgi veren ve tekrar eden soruları karşılayan birimlerle başlayabiliriz. BAKAI’nin cevaplarını bunlarla karşılaştırır, eksikleri tamamlar ve hataları düzeltiriz. Sonraki pilotta personelin tekrar eden sorular için harcadığı zamanı ve aday öğrencinin bilgiye erişimini de değerlendirebiliriz. Bu katkının rektörlüğümüzün yönlendirmesiyle istenmesi, uygulamayı gerçek ihtiyaca göre geliştirmemizi sağlayacak. Henüz kurum çapında doğruluk ya da zaman tasarrufu ölçümü yapılmış değildir.</a:t>
            </a:r>
          </a:p>
          <a:p xmlns:a="http://schemas.openxmlformats.org/drawingml/2006/main">
            <a:r>
              <a:t/>
            </a:r>
          </a:p>
          <a:p xmlns:a="http://schemas.openxmlformats.org/drawingml/2006/main">
            <a:r>
              <a:t>Kaynaklar:</a:t>
            </a:r>
          </a:p>
          <a:p xmlns:a="http://schemas.openxmlformats.org/drawingml/2006/main">
            <a:r>
              <a:t>Kullanıcının sunum sonrasında rektörlük aracılığıyla personelden soru-cevap isteme planı</a:t>
            </a:r>
          </a:p>
          <a:p xmlns:a="http://schemas.openxmlformats.org/drawingml/2006/main">
            <a:r>
              <a:t>docs/evaluation/gold-v1/README.md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a702d951f947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689ddcdda745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145e55447a49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491ff533a848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e3817d9aeb4f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912a19536344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EDC8A0-88F1-4EE0-B3AA-7BB48213E23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22FBC8-D650-4D52-94C4-ECD514F2CB6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1D8F47-BB10-4A0A-840E-C2EC7BEF9C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0F5D3C-F63E-4611-8400-C388902667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0FD3ED-EA04-43CD-88F4-18DDE831FE0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75D994-33F7-4ED2-BBB8-74FF89F04E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E05A8C-65B8-4993-B8AC-DDB274CC15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5ED978-852E-434D-92C8-D47656E936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640F3A-5B6D-4FF5-B716-DFD1F49F45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016365-AD67-4A23-95C1-98F7319454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4fb154579d407f" /><Relationship Type="http://schemas.openxmlformats.org/officeDocument/2006/relationships/slideLayout" Target="/ppt/slideLayouts/slideLayout1.xml" Id="R6f0d335611784667" /><Relationship Type="http://schemas.openxmlformats.org/officeDocument/2006/relationships/slideLayout" Target="/ppt/slideLayouts/slideLayout2.xml" Id="R31381b642a8d40c0" /><Relationship Type="http://schemas.openxmlformats.org/officeDocument/2006/relationships/slideLayout" Target="/ppt/slideLayouts/slideLayout3.xml" Id="Rf6682b3fa2ed43c1" /><Relationship Type="http://schemas.openxmlformats.org/officeDocument/2006/relationships/slideLayout" Target="/ppt/slideLayouts/slideLayout4.xml" Id="R43e5f5b73aa64688" /><Relationship Type="http://schemas.openxmlformats.org/officeDocument/2006/relationships/slideLayout" Target="/ppt/slideLayouts/slideLayout5.xml" Id="Re2f83b4f95e94762" /><Relationship Type="http://schemas.openxmlformats.org/officeDocument/2006/relationships/slideLayout" Target="/ppt/slideLayouts/slideLayout6.xml" Id="R533ddbbbbbe746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0d335611784667"/>
    <p:sldLayoutId xmlns:r="http://schemas.openxmlformats.org/officeDocument/2006/relationships" id="2147483650" r:id="R31381b642a8d40c0"/>
    <p:sldLayoutId xmlns:r="http://schemas.openxmlformats.org/officeDocument/2006/relationships" id="2147483651" r:id="Rf6682b3fa2ed43c1"/>
    <p:sldLayoutId xmlns:r="http://schemas.openxmlformats.org/officeDocument/2006/relationships" id="2147483652" r:id="R43e5f5b73aa64688"/>
    <p:sldLayoutId xmlns:r="http://schemas.openxmlformats.org/officeDocument/2006/relationships" id="2147483653" r:id="Re2f83b4f95e94762"/>
    <p:sldLayoutId xmlns:r="http://schemas.openxmlformats.org/officeDocument/2006/relationships" id="2147483654" r:id="R533ddbbbbbe746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443be8cf2f4b63" /><Relationship Type="http://schemas.openxmlformats.org/officeDocument/2006/relationships/image" Target="/ppt/media/image.png" Id="Rbcfefd4917bb49ae" /><Relationship Type="http://schemas.openxmlformats.org/officeDocument/2006/relationships/notesSlide" Target="/ppt/notesSlides/notesSlide1.xml" Id="R28f0a57a7ab045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4e65d618204e87" /><Relationship Type="http://schemas.openxmlformats.org/officeDocument/2006/relationships/notesSlide" Target="/ppt/notesSlides/notesSlide2.xml" Id="R869d4bd6071541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441d89693c043d2" /><Relationship Type="http://schemas.openxmlformats.org/officeDocument/2006/relationships/notesSlide" Target="/ppt/notesSlides/notesSlide3.xml" Id="R16054bd1002e4a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e22b230b3d44a5" /><Relationship Type="http://schemas.openxmlformats.org/officeDocument/2006/relationships/hyperlink" Target="https://bakai.manas.edu.kg/" TargetMode="External" Id="Re3510ac9a2614d17" /><Relationship Type="http://schemas.openxmlformats.org/officeDocument/2006/relationships/image" Target="/ppt/media/image.jpeg" Id="R37748a09fca640af" /><Relationship Type="http://schemas.openxmlformats.org/officeDocument/2006/relationships/notesSlide" Target="/ppt/notesSlides/notesSlide4.xml" Id="R060b4cc72a644a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bc903f6f32c477b" /><Relationship Type="http://schemas.openxmlformats.org/officeDocument/2006/relationships/notesSlide" Target="/ppt/notesSlides/notesSlide5.xml" Id="Re14488603ae448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92143496114f32" /><Relationship Type="http://schemas.openxmlformats.org/officeDocument/2006/relationships/notesSlide" Target="/ppt/notesSlides/notesSlide6.xml" Id="R821563833170495c"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019BE4-A60A-421C-91F7-622115770288}"/>
              </a:ext>
            </a:extLst>
          </p:cNvPr>
          <p:cNvSpPr>
            <a:spLocks xmlns:a="http://schemas.openxmlformats.org/drawingml/2006/main" noGrp="1"/>
          </p:cNvSpPr>
          <p:nvPr/>
        </p:nvSpPr>
        <p:spPr>
          <a:xfrm xmlns:a="http://schemas.openxmlformats.org/drawingml/2006/main">
            <a:off x="723900" y="1095375"/>
            <a:ext cx="714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200" b="1">
                <a:solidFill>
                  <a:srgbClr val="087B72"/>
                </a:solidFill>
                <a:latin typeface="Arial"/>
                <a:ea typeface="Arial"/>
                <a:cs typeface="Arial"/>
              </a:defRPr>
            </a:defPPr>
          </a:lstStyle>
          <a:p xmlns:a="http://schemas.openxmlformats.org/drawingml/2006/main">
            <a:pPr>
              <a:defRPr sz="7200" b="1">
                <a:solidFill>
                  <a:srgbClr val="087B72"/>
                </a:solidFill>
                <a:latin typeface="Arial"/>
                <a:ea typeface="Arial"/>
                <a:cs typeface="Arial"/>
              </a:defRPr>
            </a:pPr>
            <a:r>
              <a:rPr sz="7200" b="1">
                <a:solidFill>
                  <a:srgbClr val="087B72"/>
                </a:solidFill>
                <a:latin typeface="Arial"/>
                <a:ea typeface="Arial"/>
                <a:cs typeface="Arial"/>
              </a:rPr>
              <a:t>BAKAI</a:t>
            </a:r>
          </a:p>
        </p:txBody>
      </p:sp>
      <p:sp>
        <p:nvSpPr>
          <p:cNvPr id="2" name="">
            <a:extLst xmlns:a="http://schemas.openxmlformats.org/drawingml/2006/main">
              <a:ext uri="{FF2B5EF4-FFF2-40B4-BE49-F238E27FC236}">
                <a16:creationId xmlns:a16="http://schemas.microsoft.com/office/drawing/2014/main" id="{71F8DE0C-9C38-42B6-951B-AA32AEC611E5}"/>
              </a:ext>
            </a:extLst>
          </p:cNvPr>
          <p:cNvSpPr>
            <a:spLocks xmlns:a="http://schemas.openxmlformats.org/drawingml/2006/main" noGrp="1"/>
          </p:cNvSpPr>
          <p:nvPr/>
        </p:nvSpPr>
        <p:spPr>
          <a:xfrm xmlns:a="http://schemas.openxmlformats.org/drawingml/2006/main">
            <a:off x="762000" y="2552700"/>
            <a:ext cx="7810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75" b="1">
                <a:solidFill>
                  <a:srgbClr val="142724"/>
                </a:solidFill>
                <a:latin typeface="Arial"/>
                <a:ea typeface="Arial"/>
                <a:cs typeface="Arial"/>
              </a:defRPr>
            </a:defPPr>
          </a:lstStyle>
          <a:p xmlns:a="http://schemas.openxmlformats.org/drawingml/2006/main">
            <a:pPr>
              <a:defRPr sz="3375" b="1">
                <a:solidFill>
                  <a:srgbClr val="142724"/>
                </a:solidFill>
                <a:latin typeface="Arial"/>
                <a:ea typeface="Arial"/>
                <a:cs typeface="Arial"/>
              </a:defRPr>
            </a:pPr>
            <a:r>
              <a:rPr sz="3375" b="1">
                <a:solidFill>
                  <a:srgbClr val="142724"/>
                </a:solidFill>
                <a:latin typeface="Arial"/>
                <a:ea typeface="Arial"/>
                <a:cs typeface="Arial"/>
              </a:rPr>
              <a:t>Personel için daha az tekrar.</a:t>
            </a:r>
          </a:p>
          <a:p xmlns:a="http://schemas.openxmlformats.org/drawingml/2006/main">
            <a:pPr>
              <a:defRPr sz="3375" b="1">
                <a:solidFill>
                  <a:srgbClr val="142724"/>
                </a:solidFill>
                <a:latin typeface="Arial"/>
                <a:ea typeface="Arial"/>
                <a:cs typeface="Arial"/>
              </a:defRPr>
            </a:pPr>
            <a:r>
              <a:rPr sz="3375" b="1">
                <a:solidFill>
                  <a:srgbClr val="142724"/>
                </a:solidFill>
                <a:latin typeface="Arial"/>
                <a:ea typeface="Arial"/>
                <a:cs typeface="Arial"/>
              </a:rPr>
              <a:t>Aday öğrenci için hızlı bilgi.</a:t>
            </a:r>
          </a:p>
        </p:txBody>
      </p:sp>
      <p:sp>
        <p:nvSpPr>
          <p:cNvPr id="3" name="">
            <a:extLst xmlns:a="http://schemas.openxmlformats.org/drawingml/2006/main">
              <a:ext uri="{FF2B5EF4-FFF2-40B4-BE49-F238E27FC236}">
                <a16:creationId xmlns:a16="http://schemas.microsoft.com/office/drawing/2014/main" id="{3A7D865D-B17F-448D-B801-3CDB827CAAF1}"/>
              </a:ext>
            </a:extLst>
          </p:cNvPr>
          <p:cNvSpPr>
            <a:spLocks xmlns:a="http://schemas.openxmlformats.org/drawingml/2006/main" noGrp="1"/>
          </p:cNvSpPr>
          <p:nvPr/>
        </p:nvSpPr>
        <p:spPr>
          <a:xfrm xmlns:a="http://schemas.openxmlformats.org/drawingml/2006/main">
            <a:off x="762000" y="4524375"/>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Yrd. Doç. Dr. Abdulkadir Şeker</a:t>
            </a:r>
          </a:p>
        </p:txBody>
      </p:sp>
      <p:sp>
        <p:nvSpPr>
          <p:cNvPr id="4" name="">
            <a:extLst xmlns:a="http://schemas.openxmlformats.org/drawingml/2006/main">
              <a:ext uri="{FF2B5EF4-FFF2-40B4-BE49-F238E27FC236}">
                <a16:creationId xmlns:a16="http://schemas.microsoft.com/office/drawing/2014/main" id="{A590CAEA-B438-4D30-B32E-C45888FA1CA0}"/>
              </a:ext>
            </a:extLst>
          </p:cNvPr>
          <p:cNvSpPr>
            <a:spLocks xmlns:a="http://schemas.openxmlformats.org/drawingml/2006/main" noGrp="1"/>
          </p:cNvSpPr>
          <p:nvPr/>
        </p:nvSpPr>
        <p:spPr>
          <a:xfrm xmlns:a="http://schemas.openxmlformats.org/drawingml/2006/main">
            <a:off x="762000" y="498157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35A56"/>
                </a:solidFill>
                <a:latin typeface="Arial"/>
                <a:ea typeface="Arial"/>
                <a:cs typeface="Arial"/>
              </a:defRPr>
            </a:defPPr>
          </a:lstStyle>
          <a:p xmlns:a="http://schemas.openxmlformats.org/drawingml/2006/main">
            <a:pPr>
              <a:defRPr sz="1875" b="0">
                <a:solidFill>
                  <a:srgbClr val="435A56"/>
                </a:solidFill>
                <a:latin typeface="Arial"/>
                <a:ea typeface="Arial"/>
                <a:cs typeface="Arial"/>
              </a:defRPr>
            </a:pPr>
            <a:r>
              <a:rPr sz="1875" b="0">
                <a:solidFill>
                  <a:srgbClr val="435A56"/>
                </a:solidFill>
                <a:latin typeface="Arial"/>
                <a:ea typeface="Arial"/>
                <a:cs typeface="Arial"/>
              </a:rPr>
              <a:t>Proje yürütücüsü ve geliştirici</a:t>
            </a:r>
          </a:p>
        </p:txBody>
      </p:sp>
      <p:sp>
        <p:nvSpPr>
          <p:cNvPr id="5" name="">
            <a:extLst xmlns:a="http://schemas.openxmlformats.org/drawingml/2006/main">
              <a:ext uri="{FF2B5EF4-FFF2-40B4-BE49-F238E27FC236}">
                <a16:creationId xmlns:a16="http://schemas.microsoft.com/office/drawing/2014/main" id="{DE0EB39B-A43C-4685-8ADB-6843592F1F98}"/>
              </a:ext>
            </a:extLst>
          </p:cNvPr>
          <p:cNvSpPr>
            <a:spLocks xmlns:a="http://schemas.openxmlformats.org/drawingml/2006/main" noGrp="1"/>
          </p:cNvSpPr>
          <p:nvPr/>
        </p:nvSpPr>
        <p:spPr>
          <a:xfrm xmlns:a="http://schemas.openxmlformats.org/drawingml/2006/main">
            <a:off x="762000" y="5962650"/>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435A56"/>
                </a:solidFill>
                <a:latin typeface="Arial"/>
                <a:ea typeface="Arial"/>
                <a:cs typeface="Arial"/>
              </a:defRPr>
            </a:defPPr>
          </a:lstStyle>
          <a:p xmlns:a="http://schemas.openxmlformats.org/drawingml/2006/main">
            <a:pPr>
              <a:defRPr sz="1650" b="0">
                <a:solidFill>
                  <a:srgbClr val="435A56"/>
                </a:solidFill>
                <a:latin typeface="Arial"/>
                <a:ea typeface="Arial"/>
                <a:cs typeface="Arial"/>
              </a:defRPr>
            </a:pPr>
            <a:r>
              <a:rPr sz="1650" b="0">
                <a:solidFill>
                  <a:srgbClr val="435A56"/>
                </a:solidFill>
                <a:latin typeface="Arial"/>
                <a:ea typeface="Arial"/>
                <a:cs typeface="Arial"/>
              </a:rPr>
              <a:t>KTMÜ BAP   KTMU-BAP-2026.FB.05</a:t>
            </a:r>
          </a:p>
        </p:txBody>
      </p:sp>
      <p:pic>
        <p:nvPicPr>
          <p:cNvPr id="6" name="">
            <a:extLst xmlns:a="http://schemas.openxmlformats.org/drawingml/2006/main">
              <a:ext uri="{FF2B5EF4-FFF2-40B4-BE49-F238E27FC236}">
                <a16:creationId xmlns:a16="http://schemas.microsoft.com/office/drawing/2014/main" id="{D9B24066-7F20-45C0-910F-445E7823E6C1}"/>
              </a:ext>
            </a:extLst>
          </p:cNvPr>
          <p:cNvPicPr>
            <a:picLocks xmlns:a="http://schemas.openxmlformats.org/drawingml/2006/main" noChangeAspect="1"/>
          </p:cNvPicPr>
          <p:nvPr/>
        </p:nvPicPr>
        <p:blipFill>
          <a:blip xmlns:r="http://schemas.openxmlformats.org/officeDocument/2006/relationships" xmlns:a="http://schemas.openxmlformats.org/drawingml/2006/main" r:embed="Rbcfefd4917bb49ae"/>
          <a:stretch xmlns:a="http://schemas.openxmlformats.org/drawingml/2006/main"/>
        </p:blipFill>
        <p:spPr>
          <a:xfrm xmlns:a="http://schemas.openxmlformats.org/drawingml/2006/main">
            <a:off x="9124950" y="1781175"/>
            <a:ext cx="2286000" cy="2286000"/>
          </a:xfrm>
          <a:prstGeom xmlns:a="http://schemas.openxmlformats.org/drawingml/2006/main" prst="rect">
            <a:avLst/>
          </a:prstGeom>
        </p:spPr>
      </p:pic>
    </p:spTree>
    <p:extLst>
      <p:ext uri="{BB962C8B-B14F-4D97-AF65-F5344CB8AC3E}">
        <p14:creationId xmlns:p14="http://schemas.microsoft.com/office/powerpoint/2010/main" val="1407465832"/>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363C20-32D2-42EE-A1B4-2A0DF83C9918}"/>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Hangi ihtiyaca cevap veriyoruz?</a:t>
            </a:r>
          </a:p>
        </p:txBody>
      </p:sp>
      <p:sp>
        <p:nvSpPr>
          <p:cNvPr id="2" name="">
            <a:extLst xmlns:a="http://schemas.openxmlformats.org/drawingml/2006/main">
              <a:ext uri="{FF2B5EF4-FFF2-40B4-BE49-F238E27FC236}">
                <a16:creationId xmlns:a16="http://schemas.microsoft.com/office/drawing/2014/main" id="{DBB04DA7-2B37-4861-A14F-475BC463B64F}"/>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49B5A12-A8DD-49B2-B409-5E7463D2625C}"/>
              </a:ext>
            </a:extLst>
          </p:cNvPr>
          <p:cNvSpPr>
            <a:spLocks xmlns:a="http://schemas.openxmlformats.org/drawingml/2006/main" noGrp="1"/>
          </p:cNvSpPr>
          <p:nvPr/>
        </p:nvSpPr>
        <p:spPr>
          <a:xfrm xmlns:a="http://schemas.openxmlformats.org/drawingml/2006/main">
            <a:off x="762000" y="18097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087B72"/>
                </a:solidFill>
                <a:latin typeface="Arial"/>
                <a:ea typeface="Arial"/>
                <a:cs typeface="Arial"/>
              </a:defRPr>
            </a:defPPr>
          </a:lstStyle>
          <a:p xmlns:a="http://schemas.openxmlformats.org/drawingml/2006/main">
            <a:pPr>
              <a:defRPr sz="2625" b="1">
                <a:solidFill>
                  <a:srgbClr val="087B72"/>
                </a:solidFill>
                <a:latin typeface="Arial"/>
                <a:ea typeface="Arial"/>
                <a:cs typeface="Arial"/>
              </a:defRPr>
            </a:pPr>
            <a:r>
              <a:rPr sz="2625" b="1">
                <a:solidFill>
                  <a:srgbClr val="087B72"/>
                </a:solidFill>
                <a:latin typeface="Arial"/>
                <a:ea typeface="Arial"/>
                <a:cs typeface="Arial"/>
              </a:rPr>
              <a:t>İdari personel</a:t>
            </a:r>
          </a:p>
        </p:txBody>
      </p:sp>
      <p:sp>
        <p:nvSpPr>
          <p:cNvPr id="4" name="">
            <a:extLst xmlns:a="http://schemas.openxmlformats.org/drawingml/2006/main">
              <a:ext uri="{FF2B5EF4-FFF2-40B4-BE49-F238E27FC236}">
                <a16:creationId xmlns:a16="http://schemas.microsoft.com/office/drawing/2014/main" id="{5C5672C0-23FC-4BFF-87E6-180D1B490B50}"/>
              </a:ext>
            </a:extLst>
          </p:cNvPr>
          <p:cNvSpPr>
            <a:spLocks xmlns:a="http://schemas.openxmlformats.org/drawingml/2006/main" noGrp="1"/>
          </p:cNvSpPr>
          <p:nvPr/>
        </p:nvSpPr>
        <p:spPr>
          <a:xfrm xmlns:a="http://schemas.openxmlformats.org/drawingml/2006/main">
            <a:off x="762000" y="257175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42724"/>
                </a:solidFill>
                <a:latin typeface="Arial"/>
                <a:ea typeface="Arial"/>
                <a:cs typeface="Arial"/>
              </a:defRPr>
            </a:defPPr>
          </a:lstStyle>
          <a:p xmlns:a="http://schemas.openxmlformats.org/drawingml/2006/main">
            <a:pPr>
              <a:defRPr sz="2700" b="1">
                <a:solidFill>
                  <a:srgbClr val="142724"/>
                </a:solidFill>
                <a:latin typeface="Arial"/>
                <a:ea typeface="Arial"/>
                <a:cs typeface="Arial"/>
              </a:defRPr>
            </a:pPr>
            <a:r>
              <a:rPr sz="2700" b="1">
                <a:solidFill>
                  <a:srgbClr val="142724"/>
                </a:solidFill>
                <a:latin typeface="Arial"/>
                <a:ea typeface="Arial"/>
                <a:cs typeface="Arial"/>
              </a:rPr>
              <a:t>Aynı sorulara</a:t>
            </a:r>
          </a:p>
          <a:p xmlns:a="http://schemas.openxmlformats.org/drawingml/2006/main">
            <a:pPr>
              <a:defRPr sz="2700" b="1">
                <a:solidFill>
                  <a:srgbClr val="142724"/>
                </a:solidFill>
                <a:latin typeface="Arial"/>
                <a:ea typeface="Arial"/>
                <a:cs typeface="Arial"/>
              </a:defRPr>
            </a:pPr>
            <a:r>
              <a:rPr sz="2700" b="1">
                <a:solidFill>
                  <a:srgbClr val="142724"/>
                </a:solidFill>
                <a:latin typeface="Arial"/>
                <a:ea typeface="Arial"/>
                <a:cs typeface="Arial"/>
              </a:rPr>
              <a:t>tekrar tekrar cevap vermek</a:t>
            </a:r>
          </a:p>
        </p:txBody>
      </p:sp>
      <p:sp>
        <p:nvSpPr>
          <p:cNvPr id="5" name="">
            <a:extLst xmlns:a="http://schemas.openxmlformats.org/drawingml/2006/main">
              <a:ext uri="{FF2B5EF4-FFF2-40B4-BE49-F238E27FC236}">
                <a16:creationId xmlns:a16="http://schemas.microsoft.com/office/drawing/2014/main" id="{6F5DC6AE-80C8-4DF0-861C-69608988192F}"/>
              </a:ext>
            </a:extLst>
          </p:cNvPr>
          <p:cNvSpPr>
            <a:spLocks xmlns:a="http://schemas.openxmlformats.org/drawingml/2006/main" noGrp="1"/>
          </p:cNvSpPr>
          <p:nvPr/>
        </p:nvSpPr>
        <p:spPr>
          <a:xfrm xmlns:a="http://schemas.openxmlformats.org/drawingml/2006/main">
            <a:off x="762000" y="4314825"/>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435A56"/>
                </a:solidFill>
                <a:latin typeface="Arial"/>
                <a:ea typeface="Arial"/>
                <a:cs typeface="Arial"/>
              </a:defRPr>
            </a:defPPr>
          </a:lstStyle>
          <a:p xmlns:a="http://schemas.openxmlformats.org/drawingml/2006/main">
            <a:pPr>
              <a:defRPr sz="2025" b="0">
                <a:solidFill>
                  <a:srgbClr val="435A56"/>
                </a:solidFill>
                <a:latin typeface="Arial"/>
                <a:ea typeface="Arial"/>
                <a:cs typeface="Arial"/>
              </a:defRPr>
            </a:pPr>
            <a:r>
              <a:rPr sz="2025" b="0">
                <a:solidFill>
                  <a:srgbClr val="435A56"/>
                </a:solidFill>
                <a:latin typeface="Arial"/>
                <a:ea typeface="Arial"/>
                <a:cs typeface="Arial"/>
              </a:rPr>
              <a:t>Geçen yıl verdiğim eğitimde</a:t>
            </a:r>
          </a:p>
          <a:p xmlns:a="http://schemas.openxmlformats.org/drawingml/2006/main">
            <a:pPr>
              <a:defRPr sz="2025" b="0">
                <a:solidFill>
                  <a:srgbClr val="435A56"/>
                </a:solidFill>
                <a:latin typeface="Arial"/>
                <a:ea typeface="Arial"/>
                <a:cs typeface="Arial"/>
              </a:defRPr>
            </a:pPr>
            <a:r>
              <a:rPr sz="2025" b="0">
                <a:solidFill>
                  <a:srgbClr val="435A56"/>
                </a:solidFill>
                <a:latin typeface="Arial"/>
                <a:ea typeface="Arial"/>
                <a:cs typeface="Arial"/>
              </a:rPr>
              <a:t>personelimizin dile getirdiği yük.</a:t>
            </a:r>
          </a:p>
        </p:txBody>
      </p:sp>
      <p:sp>
        <p:nvSpPr>
          <p:cNvPr id="6" name="">
            <a:extLst xmlns:a="http://schemas.openxmlformats.org/drawingml/2006/main">
              <a:ext uri="{FF2B5EF4-FFF2-40B4-BE49-F238E27FC236}">
                <a16:creationId xmlns:a16="http://schemas.microsoft.com/office/drawing/2014/main" id="{B96E2340-FF8B-4331-8BAA-F5C6639F3ED2}"/>
              </a:ext>
            </a:extLst>
          </p:cNvPr>
          <p:cNvSpPr>
            <a:spLocks xmlns:a="http://schemas.openxmlformats.org/drawingml/2006/main" noGrp="1"/>
          </p:cNvSpPr>
          <p:nvPr/>
        </p:nvSpPr>
        <p:spPr>
          <a:xfrm xmlns:a="http://schemas.openxmlformats.org/drawingml/2006/main">
            <a:off x="6515100" y="180975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087B72"/>
                </a:solidFill>
                <a:latin typeface="Arial"/>
                <a:ea typeface="Arial"/>
                <a:cs typeface="Arial"/>
              </a:defRPr>
            </a:defPPr>
          </a:lstStyle>
          <a:p xmlns:a="http://schemas.openxmlformats.org/drawingml/2006/main">
            <a:pPr>
              <a:defRPr sz="2625" b="1">
                <a:solidFill>
                  <a:srgbClr val="087B72"/>
                </a:solidFill>
                <a:latin typeface="Arial"/>
                <a:ea typeface="Arial"/>
                <a:cs typeface="Arial"/>
              </a:defRPr>
            </a:pPr>
            <a:r>
              <a:rPr sz="2625" b="1">
                <a:solidFill>
                  <a:srgbClr val="087B72"/>
                </a:solidFill>
                <a:latin typeface="Arial"/>
                <a:ea typeface="Arial"/>
                <a:cs typeface="Arial"/>
              </a:rPr>
              <a:t>Aday öğrenci</a:t>
            </a:r>
          </a:p>
        </p:txBody>
      </p:sp>
      <p:sp>
        <p:nvSpPr>
          <p:cNvPr id="7" name="">
            <a:extLst xmlns:a="http://schemas.openxmlformats.org/drawingml/2006/main">
              <a:ext uri="{FF2B5EF4-FFF2-40B4-BE49-F238E27FC236}">
                <a16:creationId xmlns:a16="http://schemas.microsoft.com/office/drawing/2014/main" id="{486B7B44-94E8-4E2D-8D58-E1D9886AE982}"/>
              </a:ext>
            </a:extLst>
          </p:cNvPr>
          <p:cNvSpPr>
            <a:spLocks xmlns:a="http://schemas.openxmlformats.org/drawingml/2006/main" noGrp="1"/>
          </p:cNvSpPr>
          <p:nvPr/>
        </p:nvSpPr>
        <p:spPr>
          <a:xfrm xmlns:a="http://schemas.openxmlformats.org/drawingml/2006/main">
            <a:off x="6515100" y="257175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42724"/>
                </a:solidFill>
                <a:latin typeface="Arial"/>
                <a:ea typeface="Arial"/>
                <a:cs typeface="Arial"/>
              </a:defRPr>
            </a:defPPr>
          </a:lstStyle>
          <a:p xmlns:a="http://schemas.openxmlformats.org/drawingml/2006/main">
            <a:pPr>
              <a:defRPr sz="2700" b="1">
                <a:solidFill>
                  <a:srgbClr val="142724"/>
                </a:solidFill>
                <a:latin typeface="Arial"/>
                <a:ea typeface="Arial"/>
                <a:cs typeface="Arial"/>
              </a:defRPr>
            </a:pPr>
            <a:r>
              <a:rPr sz="2700" b="1">
                <a:solidFill>
                  <a:srgbClr val="142724"/>
                </a:solidFill>
                <a:latin typeface="Arial"/>
                <a:ea typeface="Arial"/>
                <a:cs typeface="Arial"/>
              </a:rPr>
              <a:t>Üniversite hakkında</a:t>
            </a:r>
          </a:p>
          <a:p xmlns:a="http://schemas.openxmlformats.org/drawingml/2006/main">
            <a:pPr>
              <a:defRPr sz="2700" b="1">
                <a:solidFill>
                  <a:srgbClr val="142724"/>
                </a:solidFill>
                <a:latin typeface="Arial"/>
                <a:ea typeface="Arial"/>
                <a:cs typeface="Arial"/>
              </a:defRPr>
            </a:pPr>
            <a:r>
              <a:rPr sz="2700" b="1">
                <a:solidFill>
                  <a:srgbClr val="142724"/>
                </a:solidFill>
                <a:latin typeface="Arial"/>
                <a:ea typeface="Arial"/>
                <a:cs typeface="Arial"/>
              </a:rPr>
              <a:t>bilgiye hızlı ulaşma ihtiyacı</a:t>
            </a:r>
          </a:p>
        </p:txBody>
      </p:sp>
      <p:sp>
        <p:nvSpPr>
          <p:cNvPr id="8" name="">
            <a:extLst xmlns:a="http://schemas.openxmlformats.org/drawingml/2006/main">
              <a:ext uri="{FF2B5EF4-FFF2-40B4-BE49-F238E27FC236}">
                <a16:creationId xmlns:a16="http://schemas.microsoft.com/office/drawing/2014/main" id="{EDC8DD40-C249-482B-9B64-7051FA61F238}"/>
              </a:ext>
            </a:extLst>
          </p:cNvPr>
          <p:cNvSpPr>
            <a:spLocks xmlns:a="http://schemas.openxmlformats.org/drawingml/2006/main" noGrp="1"/>
          </p:cNvSpPr>
          <p:nvPr/>
        </p:nvSpPr>
        <p:spPr>
          <a:xfrm xmlns:a="http://schemas.openxmlformats.org/drawingml/2006/main">
            <a:off x="6515100" y="4314825"/>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435A56"/>
                </a:solidFill>
                <a:latin typeface="Arial"/>
                <a:ea typeface="Arial"/>
                <a:cs typeface="Arial"/>
              </a:defRPr>
            </a:defPPr>
          </a:lstStyle>
          <a:p xmlns:a="http://schemas.openxmlformats.org/drawingml/2006/main">
            <a:pPr>
              <a:defRPr sz="2025" b="0">
                <a:solidFill>
                  <a:srgbClr val="435A56"/>
                </a:solidFill>
                <a:latin typeface="Arial"/>
                <a:ea typeface="Arial"/>
                <a:cs typeface="Arial"/>
              </a:defRPr>
            </a:pPr>
            <a:r>
              <a:rPr sz="2025" b="0">
                <a:solidFill>
                  <a:srgbClr val="435A56"/>
                </a:solidFill>
                <a:latin typeface="Arial"/>
                <a:ea typeface="Arial"/>
                <a:cs typeface="Arial"/>
              </a:rPr>
              <a:t>Başvuru, bölümler, barınma…</a:t>
            </a:r>
          </a:p>
          <a:p xmlns:a="http://schemas.openxmlformats.org/drawingml/2006/main">
            <a:pPr>
              <a:defRPr sz="2025" b="0">
                <a:solidFill>
                  <a:srgbClr val="435A56"/>
                </a:solidFill>
                <a:latin typeface="Arial"/>
                <a:ea typeface="Arial"/>
                <a:cs typeface="Arial"/>
              </a:defRPr>
            </a:pPr>
            <a:r>
              <a:rPr sz="2025" b="0">
                <a:solidFill>
                  <a:srgbClr val="435A56"/>
                </a:solidFill>
                <a:latin typeface="Arial"/>
                <a:ea typeface="Arial"/>
                <a:cs typeface="Arial"/>
              </a:rPr>
              <a:t>Aradığı bilgiyi kolayca bulabilmek.</a:t>
            </a:r>
          </a:p>
        </p:txBody>
      </p:sp>
    </p:spTree>
    <p:extLst>
      <p:ext uri="{BB962C8B-B14F-4D97-AF65-F5344CB8AC3E}">
        <p14:creationId xmlns:p14="http://schemas.microsoft.com/office/powerpoint/2010/main" val="1488805682"/>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52915B-D226-4430-885C-5C67A24B75FA}"/>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BAKAI nasıl yardımcı olacak?</a:t>
            </a:r>
          </a:p>
        </p:txBody>
      </p:sp>
      <p:sp>
        <p:nvSpPr>
          <p:cNvPr id="2" name="">
            <a:extLst xmlns:a="http://schemas.openxmlformats.org/drawingml/2006/main">
              <a:ext uri="{FF2B5EF4-FFF2-40B4-BE49-F238E27FC236}">
                <a16:creationId xmlns:a16="http://schemas.microsoft.com/office/drawing/2014/main" id="{F1B7E22E-A55C-4111-ABE2-132112B6D4B2}"/>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4C8C739-C8B4-4315-8262-199A6D85DD34}"/>
              </a:ext>
            </a:extLst>
          </p:cNvPr>
          <p:cNvSpPr>
            <a:spLocks xmlns:a="http://schemas.openxmlformats.org/drawingml/2006/main" noGrp="1"/>
          </p:cNvSpPr>
          <p:nvPr/>
        </p:nvSpPr>
        <p:spPr>
          <a:xfrm xmlns:a="http://schemas.openxmlformats.org/drawingml/2006/main">
            <a:off x="762000" y="1743075"/>
            <a:ext cx="10572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75" b="1">
                <a:solidFill>
                  <a:srgbClr val="087B72"/>
                </a:solidFill>
                <a:latin typeface="Arial"/>
                <a:ea typeface="Arial"/>
                <a:cs typeface="Arial"/>
              </a:defRPr>
            </a:defPPr>
          </a:lstStyle>
          <a:p xmlns:a="http://schemas.openxmlformats.org/drawingml/2006/main">
            <a:pPr>
              <a:defRPr sz="3675" b="1">
                <a:solidFill>
                  <a:srgbClr val="087B72"/>
                </a:solidFill>
                <a:latin typeface="Arial"/>
                <a:ea typeface="Arial"/>
                <a:cs typeface="Arial"/>
              </a:defRPr>
            </a:pPr>
            <a:r>
              <a:rPr sz="3675" b="1">
                <a:solidFill>
                  <a:srgbClr val="087B72"/>
                </a:solidFill>
                <a:latin typeface="Arial"/>
                <a:ea typeface="Arial"/>
                <a:cs typeface="Arial"/>
              </a:rPr>
              <a:t>Sorusunu yazar.</a:t>
            </a:r>
          </a:p>
          <a:p xmlns:a="http://schemas.openxmlformats.org/drawingml/2006/main">
            <a:pPr>
              <a:defRPr sz="3675" b="1">
                <a:solidFill>
                  <a:srgbClr val="087B72"/>
                </a:solidFill>
                <a:latin typeface="Arial"/>
                <a:ea typeface="Arial"/>
                <a:cs typeface="Arial"/>
              </a:defRPr>
            </a:pPr>
            <a:r>
              <a:rPr sz="3675" b="1">
                <a:solidFill>
                  <a:srgbClr val="087B72"/>
                </a:solidFill>
                <a:latin typeface="Arial"/>
                <a:ea typeface="Arial"/>
                <a:cs typeface="Arial"/>
              </a:rPr>
              <a:t>Yanıtı ve kaynağını görür.</a:t>
            </a:r>
          </a:p>
        </p:txBody>
      </p:sp>
      <p:sp>
        <p:nvSpPr>
          <p:cNvPr id="4" name="">
            <a:extLst xmlns:a="http://schemas.openxmlformats.org/drawingml/2006/main">
              <a:ext uri="{FF2B5EF4-FFF2-40B4-BE49-F238E27FC236}">
                <a16:creationId xmlns:a16="http://schemas.microsoft.com/office/drawing/2014/main" id="{8C22886B-0922-4D39-B598-967CFF63FD00}"/>
              </a:ext>
            </a:extLst>
          </p:cNvPr>
          <p:cNvSpPr>
            <a:spLocks xmlns:a="http://schemas.openxmlformats.org/drawingml/2006/main" noGrp="1"/>
          </p:cNvSpPr>
          <p:nvPr/>
        </p:nvSpPr>
        <p:spPr>
          <a:xfrm xmlns:a="http://schemas.openxmlformats.org/drawingml/2006/main">
            <a:off x="762000" y="37147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42724"/>
                </a:solidFill>
                <a:latin typeface="Arial"/>
                <a:ea typeface="Arial"/>
                <a:cs typeface="Arial"/>
              </a:defRPr>
            </a:defPPr>
          </a:lstStyle>
          <a:p xmlns:a="http://schemas.openxmlformats.org/drawingml/2006/main">
            <a:pPr>
              <a:defRPr sz="2250" b="1">
                <a:solidFill>
                  <a:srgbClr val="142724"/>
                </a:solidFill>
                <a:latin typeface="Arial"/>
                <a:ea typeface="Arial"/>
                <a:cs typeface="Arial"/>
              </a:defRPr>
            </a:pPr>
            <a:r>
              <a:rPr sz="2250" b="1">
                <a:solidFill>
                  <a:srgbClr val="142724"/>
                </a:solidFill>
                <a:latin typeface="Arial"/>
                <a:ea typeface="Arial"/>
                <a:cs typeface="Arial"/>
              </a:rPr>
              <a:t>Personel için</a:t>
            </a:r>
          </a:p>
        </p:txBody>
      </p:sp>
      <p:sp>
        <p:nvSpPr>
          <p:cNvPr id="5" name="">
            <a:extLst xmlns:a="http://schemas.openxmlformats.org/drawingml/2006/main">
              <a:ext uri="{FF2B5EF4-FFF2-40B4-BE49-F238E27FC236}">
                <a16:creationId xmlns:a16="http://schemas.microsoft.com/office/drawing/2014/main" id="{7FCBDBFA-5FD6-47E7-9B7C-AA6BA3B59F86}"/>
              </a:ext>
            </a:extLst>
          </p:cNvPr>
          <p:cNvSpPr>
            <a:spLocks xmlns:a="http://schemas.openxmlformats.org/drawingml/2006/main" noGrp="1"/>
          </p:cNvSpPr>
          <p:nvPr/>
        </p:nvSpPr>
        <p:spPr>
          <a:xfrm xmlns:a="http://schemas.openxmlformats.org/drawingml/2006/main">
            <a:off x="762000" y="4324350"/>
            <a:ext cx="4953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435A56"/>
                </a:solidFill>
                <a:latin typeface="Arial"/>
                <a:ea typeface="Arial"/>
                <a:cs typeface="Arial"/>
              </a:defRPr>
            </a:defPPr>
          </a:lstStyle>
          <a:p xmlns:a="http://schemas.openxmlformats.org/drawingml/2006/main">
            <a:pPr>
              <a:defRPr sz="2400" b="0">
                <a:solidFill>
                  <a:srgbClr val="435A56"/>
                </a:solidFill>
                <a:latin typeface="Arial"/>
                <a:ea typeface="Arial"/>
                <a:cs typeface="Arial"/>
              </a:defRPr>
            </a:pPr>
            <a:r>
              <a:rPr sz="2400" b="0">
                <a:solidFill>
                  <a:srgbClr val="435A56"/>
                </a:solidFill>
                <a:latin typeface="Arial"/>
                <a:ea typeface="Arial"/>
                <a:cs typeface="Arial"/>
              </a:rPr>
              <a:t>Rutin bilgi verme yükünü</a:t>
            </a:r>
          </a:p>
          <a:p xmlns:a="http://schemas.openxmlformats.org/drawingml/2006/main">
            <a:pPr>
              <a:defRPr sz="2400" b="0">
                <a:solidFill>
                  <a:srgbClr val="435A56"/>
                </a:solidFill>
                <a:latin typeface="Arial"/>
                <a:ea typeface="Arial"/>
                <a:cs typeface="Arial"/>
              </a:defRPr>
            </a:pPr>
            <a:r>
              <a:rPr sz="2400" b="0">
                <a:solidFill>
                  <a:srgbClr val="435A56"/>
                </a:solidFill>
                <a:latin typeface="Arial"/>
                <a:ea typeface="Arial"/>
                <a:cs typeface="Arial"/>
              </a:rPr>
              <a:t>hafifletmek.</a:t>
            </a:r>
          </a:p>
        </p:txBody>
      </p:sp>
      <p:sp>
        <p:nvSpPr>
          <p:cNvPr id="6" name="">
            <a:extLst xmlns:a="http://schemas.openxmlformats.org/drawingml/2006/main">
              <a:ext uri="{FF2B5EF4-FFF2-40B4-BE49-F238E27FC236}">
                <a16:creationId xmlns:a16="http://schemas.microsoft.com/office/drawing/2014/main" id="{F0B7D00E-02FD-4344-896F-16EB39AC6EA9}"/>
              </a:ext>
            </a:extLst>
          </p:cNvPr>
          <p:cNvSpPr>
            <a:spLocks xmlns:a="http://schemas.openxmlformats.org/drawingml/2006/main" noGrp="1"/>
          </p:cNvSpPr>
          <p:nvPr/>
        </p:nvSpPr>
        <p:spPr>
          <a:xfrm xmlns:a="http://schemas.openxmlformats.org/drawingml/2006/main">
            <a:off x="6515100" y="37147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42724"/>
                </a:solidFill>
                <a:latin typeface="Arial"/>
                <a:ea typeface="Arial"/>
                <a:cs typeface="Arial"/>
              </a:defRPr>
            </a:defPPr>
          </a:lstStyle>
          <a:p xmlns:a="http://schemas.openxmlformats.org/drawingml/2006/main">
            <a:pPr>
              <a:defRPr sz="2250" b="1">
                <a:solidFill>
                  <a:srgbClr val="142724"/>
                </a:solidFill>
                <a:latin typeface="Arial"/>
                <a:ea typeface="Arial"/>
                <a:cs typeface="Arial"/>
              </a:defRPr>
            </a:pPr>
            <a:r>
              <a:rPr sz="2250" b="1">
                <a:solidFill>
                  <a:srgbClr val="142724"/>
                </a:solidFill>
                <a:latin typeface="Arial"/>
                <a:ea typeface="Arial"/>
                <a:cs typeface="Arial"/>
              </a:rPr>
              <a:t>Aday öğrenci için</a:t>
            </a:r>
          </a:p>
        </p:txBody>
      </p:sp>
      <p:sp>
        <p:nvSpPr>
          <p:cNvPr id="7" name="">
            <a:extLst xmlns:a="http://schemas.openxmlformats.org/drawingml/2006/main">
              <a:ext uri="{FF2B5EF4-FFF2-40B4-BE49-F238E27FC236}">
                <a16:creationId xmlns:a16="http://schemas.microsoft.com/office/drawing/2014/main" id="{BBC1EFE4-3CED-4672-8035-8721DA62FAAF}"/>
              </a:ext>
            </a:extLst>
          </p:cNvPr>
          <p:cNvSpPr>
            <a:spLocks xmlns:a="http://schemas.openxmlformats.org/drawingml/2006/main" noGrp="1"/>
          </p:cNvSpPr>
          <p:nvPr/>
        </p:nvSpPr>
        <p:spPr>
          <a:xfrm xmlns:a="http://schemas.openxmlformats.org/drawingml/2006/main">
            <a:off x="6515100" y="4324350"/>
            <a:ext cx="4953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0">
                <a:solidFill>
                  <a:srgbClr val="435A56"/>
                </a:solidFill>
                <a:latin typeface="Arial"/>
                <a:ea typeface="Arial"/>
                <a:cs typeface="Arial"/>
              </a:defRPr>
            </a:defPPr>
          </a:lstStyle>
          <a:p xmlns:a="http://schemas.openxmlformats.org/drawingml/2006/main">
            <a:pPr>
              <a:defRPr sz="2400" b="0">
                <a:solidFill>
                  <a:srgbClr val="435A56"/>
                </a:solidFill>
                <a:latin typeface="Arial"/>
                <a:ea typeface="Arial"/>
                <a:cs typeface="Arial"/>
              </a:defRPr>
            </a:pPr>
            <a:r>
              <a:rPr sz="2400" b="0">
                <a:solidFill>
                  <a:srgbClr val="435A56"/>
                </a:solidFill>
                <a:latin typeface="Arial"/>
                <a:ea typeface="Arial"/>
                <a:cs typeface="Arial"/>
              </a:rPr>
              <a:t>Üniversite hakkında bilgiye</a:t>
            </a:r>
          </a:p>
          <a:p xmlns:a="http://schemas.openxmlformats.org/drawingml/2006/main">
            <a:pPr>
              <a:defRPr sz="2400" b="0">
                <a:solidFill>
                  <a:srgbClr val="435A56"/>
                </a:solidFill>
                <a:latin typeface="Arial"/>
                <a:ea typeface="Arial"/>
                <a:cs typeface="Arial"/>
              </a:defRPr>
            </a:pPr>
            <a:r>
              <a:rPr sz="2400" b="0">
                <a:solidFill>
                  <a:srgbClr val="435A56"/>
                </a:solidFill>
                <a:latin typeface="Arial"/>
                <a:ea typeface="Arial"/>
                <a:cs typeface="Arial"/>
              </a:rPr>
              <a:t>daha hızlı ulaşmak.</a:t>
            </a:r>
          </a:p>
        </p:txBody>
      </p:sp>
      <p:sp>
        <p:nvSpPr>
          <p:cNvPr id="8" name="">
            <a:extLst xmlns:a="http://schemas.openxmlformats.org/drawingml/2006/main">
              <a:ext uri="{FF2B5EF4-FFF2-40B4-BE49-F238E27FC236}">
                <a16:creationId xmlns:a16="http://schemas.microsoft.com/office/drawing/2014/main" id="{E7503660-92C3-442F-98A7-9BC318126F89}"/>
              </a:ext>
            </a:extLst>
          </p:cNvPr>
          <p:cNvSpPr>
            <a:spLocks xmlns:a="http://schemas.openxmlformats.org/drawingml/2006/main" noGrp="1"/>
          </p:cNvSpPr>
          <p:nvPr/>
        </p:nvSpPr>
        <p:spPr>
          <a:xfrm xmlns:a="http://schemas.openxmlformats.org/drawingml/2006/main">
            <a:off x="762000" y="60198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435A56"/>
                </a:solidFill>
                <a:latin typeface="Arial"/>
                <a:ea typeface="Arial"/>
                <a:cs typeface="Arial"/>
              </a:defRPr>
            </a:defPPr>
          </a:lstStyle>
          <a:p xmlns:a="http://schemas.openxmlformats.org/drawingml/2006/main">
            <a:pPr>
              <a:defRPr sz="1725" b="0">
                <a:solidFill>
                  <a:srgbClr val="435A56"/>
                </a:solidFill>
                <a:latin typeface="Arial"/>
                <a:ea typeface="Arial"/>
                <a:cs typeface="Arial"/>
              </a:defRPr>
            </a:pPr>
            <a:r>
              <a:rPr sz="1725" b="0">
                <a:solidFill>
                  <a:srgbClr val="435A56"/>
                </a:solidFill>
                <a:latin typeface="Arial"/>
                <a:ea typeface="Arial"/>
                <a:cs typeface="Arial"/>
              </a:rPr>
              <a:t>Önemli işlemlerde kaynak belge ve yetkili birim esas alınır.</a:t>
            </a:r>
          </a:p>
        </p:txBody>
      </p:sp>
    </p:spTree>
    <p:extLst>
      <p:ext uri="{BB962C8B-B14F-4D97-AF65-F5344CB8AC3E}">
        <p14:creationId xmlns:p14="http://schemas.microsoft.com/office/powerpoint/2010/main" val="896052603"/>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757AD8-9C43-452B-95B9-1F11FFE59B51}"/>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Bir soru, cevabı ve kaynağı</a:t>
            </a:r>
          </a:p>
        </p:txBody>
      </p:sp>
      <p:sp>
        <p:nvSpPr>
          <p:cNvPr id="2" name="">
            <a:extLst xmlns:a="http://schemas.openxmlformats.org/drawingml/2006/main">
              <a:ext uri="{FF2B5EF4-FFF2-40B4-BE49-F238E27FC236}">
                <a16:creationId xmlns:a16="http://schemas.microsoft.com/office/drawing/2014/main" id="{2B65EEB2-927E-42E3-A02B-B3E9E1DABA88}"/>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E1D9B19-9B4F-4FC3-820B-7AC7BCC172E8}"/>
              </a:ext>
            </a:extLst>
          </p:cNvPr>
          <p:cNvSpPr>
            <a:spLocks xmlns:a="http://schemas.openxmlformats.org/drawingml/2006/main" noGrp="1"/>
          </p:cNvSpPr>
          <p:nvPr/>
        </p:nvSpPr>
        <p:spPr>
          <a:xfrm xmlns:a="http://schemas.openxmlformats.org/drawingml/2006/main">
            <a:off x="762000" y="1943100"/>
            <a:ext cx="670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087B72"/>
                </a:solidFill>
                <a:latin typeface="Arial"/>
                <a:ea typeface="Arial"/>
                <a:cs typeface="Arial"/>
              </a:defRPr>
            </a:defPPr>
          </a:lstStyle>
          <a:p xmlns:a="http://schemas.openxmlformats.org/drawingml/2006/main">
            <a:pPr>
              <a:defRPr sz="3225" b="1">
                <a:solidFill>
                  <a:srgbClr val="087B72"/>
                </a:solidFill>
                <a:latin typeface="Arial"/>
                <a:ea typeface="Arial"/>
                <a:cs typeface="Arial"/>
              </a:defRPr>
            </a:pPr>
            <a:r>
              <a:rPr sz="3225" b="1">
                <a:solidFill>
                  <a:srgbClr val="087B72"/>
                </a:solidFill>
                <a:latin typeface="Arial"/>
                <a:ea typeface="Arial"/>
                <a:cs typeface="Arial"/>
              </a:rPr>
              <a:t>“Daha önce aldığım dersleri</a:t>
            </a:r>
          </a:p>
          <a:p xmlns:a="http://schemas.openxmlformats.org/drawingml/2006/main">
            <a:pPr>
              <a:defRPr sz="3225" b="1">
                <a:solidFill>
                  <a:srgbClr val="087B72"/>
                </a:solidFill>
                <a:latin typeface="Arial"/>
                <a:ea typeface="Arial"/>
                <a:cs typeface="Arial"/>
              </a:defRPr>
            </a:pPr>
            <a:r>
              <a:rPr sz="3225" b="1">
                <a:solidFill>
                  <a:srgbClr val="087B72"/>
                </a:solidFill>
                <a:latin typeface="Arial"/>
                <a:ea typeface="Arial"/>
                <a:cs typeface="Arial"/>
              </a:rPr>
              <a:t>saydırabilir miyim?”</a:t>
            </a:r>
          </a:p>
        </p:txBody>
      </p:sp>
      <p:sp>
        <p:nvSpPr>
          <p:cNvPr id="4" name="">
            <a:extLst xmlns:a="http://schemas.openxmlformats.org/drawingml/2006/main">
              <a:ext uri="{FF2B5EF4-FFF2-40B4-BE49-F238E27FC236}">
                <a16:creationId xmlns:a16="http://schemas.microsoft.com/office/drawing/2014/main" id="{806D0394-88CF-42CF-A768-415B7DFCDC6D}"/>
              </a:ext>
            </a:extLst>
          </p:cNvPr>
          <p:cNvSpPr>
            <a:spLocks xmlns:a="http://schemas.openxmlformats.org/drawingml/2006/main" noGrp="1"/>
          </p:cNvSpPr>
          <p:nvPr/>
        </p:nvSpPr>
        <p:spPr>
          <a:xfrm xmlns:a="http://schemas.openxmlformats.org/drawingml/2006/main">
            <a:off x="762000" y="3752850"/>
            <a:ext cx="676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0">
                <a:solidFill>
                  <a:srgbClr val="142724"/>
                </a:solidFill>
                <a:latin typeface="Arial"/>
                <a:ea typeface="Arial"/>
                <a:cs typeface="Arial"/>
              </a:defRPr>
            </a:defPPr>
          </a:lstStyle>
          <a:p xmlns:a="http://schemas.openxmlformats.org/drawingml/2006/main">
            <a:pPr>
              <a:defRPr sz="2475" b="0">
                <a:solidFill>
                  <a:srgbClr val="142724"/>
                </a:solidFill>
                <a:latin typeface="Arial"/>
                <a:ea typeface="Arial"/>
                <a:cs typeface="Arial"/>
              </a:defRPr>
            </a:pPr>
            <a:r>
              <a:rPr sz="2475" b="0">
                <a:solidFill>
                  <a:srgbClr val="142724"/>
                </a:solidFill>
                <a:latin typeface="Arial"/>
                <a:ea typeface="Arial"/>
                <a:cs typeface="Arial"/>
              </a:rPr>
              <a:t>Koşulları özetler.</a:t>
            </a:r>
          </a:p>
          <a:p xmlns:a="http://schemas.openxmlformats.org/drawingml/2006/main">
            <a:pPr>
              <a:defRPr sz="2475" b="0">
                <a:solidFill>
                  <a:srgbClr val="142724"/>
                </a:solidFill>
                <a:latin typeface="Arial"/>
                <a:ea typeface="Arial"/>
                <a:cs typeface="Arial"/>
              </a:defRPr>
            </a:pPr>
            <a:r>
              <a:rPr sz="2475" b="0">
                <a:solidFill>
                  <a:srgbClr val="142724"/>
                </a:solidFill>
                <a:latin typeface="Arial"/>
                <a:ea typeface="Arial"/>
                <a:cs typeface="Arial"/>
              </a:rPr>
              <a:t>Dayandığı yönetmeliği gösterir.</a:t>
            </a:r>
          </a:p>
        </p:txBody>
      </p:sp>
      <p:sp>
        <p:nvSpPr>
          <p:cNvPr id="5" name="">
            <a:extLst xmlns:a="http://schemas.openxmlformats.org/drawingml/2006/main">
              <a:ext uri="{FF2B5EF4-FFF2-40B4-BE49-F238E27FC236}">
                <a16:creationId xmlns:a16="http://schemas.microsoft.com/office/drawing/2014/main" id="{B4B3D04D-9710-4CFE-A4D7-631FDA2CD2BC}"/>
              </a:ext>
            </a:extLst>
          </p:cNvPr>
          <p:cNvSpPr>
            <a:spLocks xmlns:a="http://schemas.openxmlformats.org/drawingml/2006/main" noGrp="1"/>
          </p:cNvSpPr>
          <p:nvPr/>
        </p:nvSpPr>
        <p:spPr>
          <a:xfrm xmlns:a="http://schemas.openxmlformats.org/drawingml/2006/main">
            <a:off x="762000" y="5629275"/>
            <a:ext cx="666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087B72"/>
                </a:solidFill>
                <a:latin typeface="Arial"/>
                <a:ea typeface="Arial"/>
                <a:cs typeface="Arial"/>
              </a:defRPr>
            </a:defPPr>
          </a:lstStyle>
          <a:p xmlns:a="http://schemas.openxmlformats.org/drawingml/2006/main">
            <a:pPr>
              <a:defRPr sz="2700" b="1">
                <a:solidFill>
                  <a:srgbClr val="087B72"/>
                </a:solidFill>
                <a:latin typeface="Arial"/>
                <a:ea typeface="Arial"/>
                <a:cs typeface="Arial"/>
              </a:defRPr>
            </a:pPr>
            <a:r>
              <a:rPr sz="2700" b="1">
                <a:solidFill>
                  <a:srgbClr val="087B72"/>
                </a:solidFill>
                <a:latin typeface="Arial"/>
                <a:ea typeface="Arial"/>
                <a:cs typeface="Arial"/>
                <a:hlinkClick xmlns:r="http://schemas.openxmlformats.org/officeDocument/2006/relationships" r:id="Re3510ac9a2614d17"/>
              </a:rPr>
              <a:t>bakai.manas.edu.kg</a:t>
            </a:r>
          </a:p>
        </p:txBody>
      </p:sp>
      <p:pic>
        <p:nvPicPr>
          <p:cNvPr id="6" name="">
            <a:extLst xmlns:a="http://schemas.openxmlformats.org/drawingml/2006/main">
              <a:ext uri="{FF2B5EF4-FFF2-40B4-BE49-F238E27FC236}">
                <a16:creationId xmlns:a16="http://schemas.microsoft.com/office/drawing/2014/main" id="{1C590569-969D-4E39-B3CB-05364B6EA325}"/>
              </a:ext>
            </a:extLst>
          </p:cNvPr>
          <p:cNvPicPr>
            <a:picLocks xmlns:a="http://schemas.openxmlformats.org/drawingml/2006/main" noChangeAspect="1"/>
          </p:cNvPicPr>
          <p:nvPr/>
        </p:nvPicPr>
        <p:blipFill>
          <a:blip xmlns:r="http://schemas.openxmlformats.org/officeDocument/2006/relationships" xmlns:a="http://schemas.openxmlformats.org/drawingml/2006/main" r:embed="R37748a09fca640af"/>
          <a:stretch xmlns:a="http://schemas.openxmlformats.org/drawingml/2006/main"/>
        </p:blipFill>
        <p:spPr>
          <a:xfrm xmlns:a="http://schemas.openxmlformats.org/drawingml/2006/main">
            <a:off x="8182701" y="1381125"/>
            <a:ext cx="2722698" cy="4962525"/>
          </a:xfrm>
          <a:prstGeom xmlns:a="http://schemas.openxmlformats.org/drawingml/2006/main" prst="rect">
            <a:avLst/>
          </a:prstGeom>
        </p:spPr>
      </p:pic>
    </p:spTree>
    <p:extLst>
      <p:ext uri="{BB962C8B-B14F-4D97-AF65-F5344CB8AC3E}">
        <p14:creationId xmlns:p14="http://schemas.microsoft.com/office/powerpoint/2010/main" val="735331211"/>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1942C7-2932-499B-8FF4-46A9981A9911}"/>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Bakay’dan BAKAI’ye</a:t>
            </a:r>
          </a:p>
        </p:txBody>
      </p:sp>
      <p:sp>
        <p:nvSpPr>
          <p:cNvPr id="2" name="">
            <a:extLst xmlns:a="http://schemas.openxmlformats.org/drawingml/2006/main">
              <a:ext uri="{FF2B5EF4-FFF2-40B4-BE49-F238E27FC236}">
                <a16:creationId xmlns:a16="http://schemas.microsoft.com/office/drawing/2014/main" id="{64D5CCD9-8F1C-4A9C-8C16-AEDF6F5B65A8}"/>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585B8832-6F8D-4A00-9549-4186F96634BB}"/>
              </a:ext>
            </a:extLst>
          </p:cNvPr>
          <p:cNvSpPr>
            <a:spLocks xmlns:a="http://schemas.openxmlformats.org/drawingml/2006/main" noGrp="1"/>
          </p:cNvSpPr>
          <p:nvPr/>
        </p:nvSpPr>
        <p:spPr>
          <a:xfrm xmlns:a="http://schemas.openxmlformats.org/drawingml/2006/main">
            <a:off x="762000" y="1885950"/>
            <a:ext cx="10668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5" b="1">
                <a:solidFill>
                  <a:srgbClr val="087B72"/>
                </a:solidFill>
                <a:latin typeface="Arial"/>
                <a:ea typeface="Arial"/>
                <a:cs typeface="Arial"/>
              </a:defRPr>
            </a:defPPr>
          </a:lstStyle>
          <a:p xmlns:a="http://schemas.openxmlformats.org/drawingml/2006/main">
            <a:pPr>
              <a:defRPr sz="4275" b="1">
                <a:solidFill>
                  <a:srgbClr val="087B72"/>
                </a:solidFill>
                <a:latin typeface="Arial"/>
                <a:ea typeface="Arial"/>
                <a:cs typeface="Arial"/>
              </a:defRPr>
            </a:pPr>
            <a:r>
              <a:rPr sz="4275" b="1">
                <a:solidFill>
                  <a:srgbClr val="087B72"/>
                </a:solidFill>
                <a:latin typeface="Arial"/>
                <a:ea typeface="Arial"/>
                <a:cs typeface="Arial"/>
              </a:rPr>
              <a:t>Manas Destanı’nın</a:t>
            </a:r>
          </a:p>
          <a:p xmlns:a="http://schemas.openxmlformats.org/drawingml/2006/main">
            <a:pPr>
              <a:defRPr sz="4275" b="1">
                <a:solidFill>
                  <a:srgbClr val="087B72"/>
                </a:solidFill>
                <a:latin typeface="Arial"/>
                <a:ea typeface="Arial"/>
                <a:cs typeface="Arial"/>
              </a:defRPr>
            </a:pPr>
            <a:r>
              <a:rPr sz="4275" b="1">
                <a:solidFill>
                  <a:srgbClr val="087B72"/>
                </a:solidFill>
                <a:latin typeface="Arial"/>
                <a:ea typeface="Arial"/>
                <a:cs typeface="Arial"/>
              </a:rPr>
              <a:t>bilge danışmanı Bakay</a:t>
            </a:r>
          </a:p>
        </p:txBody>
      </p:sp>
      <p:sp>
        <p:nvSpPr>
          <p:cNvPr id="4" name="">
            <a:extLst xmlns:a="http://schemas.openxmlformats.org/drawingml/2006/main">
              <a:ext uri="{FF2B5EF4-FFF2-40B4-BE49-F238E27FC236}">
                <a16:creationId xmlns:a16="http://schemas.microsoft.com/office/drawing/2014/main" id="{96625B52-A5CD-4524-A0F3-942C2383B605}"/>
              </a:ext>
            </a:extLst>
          </p:cNvPr>
          <p:cNvSpPr>
            <a:spLocks xmlns:a="http://schemas.openxmlformats.org/drawingml/2006/main" noGrp="1"/>
          </p:cNvSpPr>
          <p:nvPr/>
        </p:nvSpPr>
        <p:spPr>
          <a:xfrm xmlns:a="http://schemas.openxmlformats.org/drawingml/2006/main">
            <a:off x="762000" y="4010025"/>
            <a:ext cx="1028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142724"/>
                </a:solidFill>
                <a:latin typeface="Arial"/>
                <a:ea typeface="Arial"/>
                <a:cs typeface="Arial"/>
              </a:defRPr>
            </a:defPPr>
          </a:lstStyle>
          <a:p xmlns:a="http://schemas.openxmlformats.org/drawingml/2006/main">
            <a:pPr>
              <a:defRPr sz="2700" b="0">
                <a:solidFill>
                  <a:srgbClr val="142724"/>
                </a:solidFill>
                <a:latin typeface="Arial"/>
                <a:ea typeface="Arial"/>
                <a:cs typeface="Arial"/>
              </a:defRPr>
            </a:pPr>
            <a:r>
              <a:rPr sz="2700" b="0">
                <a:solidFill>
                  <a:srgbClr val="142724"/>
                </a:solidFill>
                <a:latin typeface="Arial"/>
                <a:ea typeface="Arial"/>
                <a:cs typeface="Arial"/>
              </a:rPr>
              <a:t>Bilgi arayan kişiye yol göstermek</a:t>
            </a:r>
          </a:p>
        </p:txBody>
      </p:sp>
      <p:sp>
        <p:nvSpPr>
          <p:cNvPr id="5" name="">
            <a:extLst xmlns:a="http://schemas.openxmlformats.org/drawingml/2006/main">
              <a:ext uri="{FF2B5EF4-FFF2-40B4-BE49-F238E27FC236}">
                <a16:creationId xmlns:a16="http://schemas.microsoft.com/office/drawing/2014/main" id="{7642EEB1-EBCA-4528-9F18-BAE4466DD34E}"/>
              </a:ext>
            </a:extLst>
          </p:cNvPr>
          <p:cNvSpPr>
            <a:spLocks xmlns:a="http://schemas.openxmlformats.org/drawingml/2006/main" noGrp="1"/>
          </p:cNvSpPr>
          <p:nvPr/>
        </p:nvSpPr>
        <p:spPr>
          <a:xfrm xmlns:a="http://schemas.openxmlformats.org/drawingml/2006/main">
            <a:off x="762000" y="52673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435A56"/>
                </a:solidFill>
                <a:latin typeface="Arial"/>
                <a:ea typeface="Arial"/>
                <a:cs typeface="Arial"/>
              </a:defRPr>
            </a:defPPr>
          </a:lstStyle>
          <a:p xmlns:a="http://schemas.openxmlformats.org/drawingml/2006/main">
            <a:pPr>
              <a:defRPr sz="2025" b="0">
                <a:solidFill>
                  <a:srgbClr val="435A56"/>
                </a:solidFill>
                <a:latin typeface="Arial"/>
                <a:ea typeface="Arial"/>
                <a:cs typeface="Arial"/>
              </a:defRPr>
            </a:pPr>
            <a:r>
              <a:rPr sz="2025" b="0">
                <a:solidFill>
                  <a:srgbClr val="435A56"/>
                </a:solidFill>
                <a:latin typeface="Arial"/>
                <a:ea typeface="Arial"/>
                <a:cs typeface="Arial"/>
              </a:rPr>
              <a:t>KTMÜ BAP desteğiyle geliştirildi.</a:t>
            </a:r>
          </a:p>
          <a:p xmlns:a="http://schemas.openxmlformats.org/drawingml/2006/main">
            <a:pPr>
              <a:defRPr sz="2025" b="0">
                <a:solidFill>
                  <a:srgbClr val="435A56"/>
                </a:solidFill>
                <a:latin typeface="Arial"/>
                <a:ea typeface="Arial"/>
                <a:cs typeface="Arial"/>
              </a:defRPr>
            </a:pPr>
            <a:r>
              <a:rPr sz="2025" b="0">
                <a:solidFill>
                  <a:srgbClr val="435A56"/>
                </a:solidFill>
                <a:latin typeface="Arial"/>
                <a:ea typeface="Arial"/>
                <a:cs typeface="Arial"/>
              </a:rPr>
              <a:t>Üniversitemizin sunucusunda kullanıma açık.</a:t>
            </a:r>
          </a:p>
        </p:txBody>
      </p:sp>
    </p:spTree>
    <p:extLst>
      <p:ext uri="{BB962C8B-B14F-4D97-AF65-F5344CB8AC3E}">
        <p14:creationId xmlns:p14="http://schemas.microsoft.com/office/powerpoint/2010/main" val="881879379"/>
      </p:ext>
    </p:extLst>
  </p:cSld>
</p:sld>
</file>

<file path=ppt/slides/slide6.xml><?xml version="1.0" encoding="utf-8"?>
<p:sld xmlns:p="http://schemas.openxmlformats.org/presentationml/2006/main">
  <p:cSld>
    <p:bg>
      <p:bgPr>
        <a:solidFill xmlns:a="http://schemas.openxmlformats.org/drawingml/2006/main">
          <a:srgbClr val="14272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602D68-F351-42D1-8E7D-7B69A7658E03}"/>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Birimlerin bilgisiyle geliştirelim</a:t>
            </a:r>
          </a:p>
        </p:txBody>
      </p:sp>
      <p:sp>
        <p:nvSpPr>
          <p:cNvPr id="2" name="">
            <a:extLst xmlns:a="http://schemas.openxmlformats.org/drawingml/2006/main">
              <a:ext uri="{FF2B5EF4-FFF2-40B4-BE49-F238E27FC236}">
                <a16:creationId xmlns:a16="http://schemas.microsoft.com/office/drawing/2014/main" id="{81767A89-599E-40C6-85BF-1323DE793A1A}"/>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C4D2CE"/>
                </a:solidFill>
                <a:latin typeface="Arial"/>
                <a:ea typeface="Arial"/>
                <a:cs typeface="Arial"/>
              </a:defRPr>
            </a:defPPr>
          </a:lstStyle>
          <a:p xmlns:a="http://schemas.openxmlformats.org/drawingml/2006/main">
            <a:pPr>
              <a:defRPr sz="1275" b="0">
                <a:solidFill>
                  <a:srgbClr val="C4D2CE"/>
                </a:solidFill>
                <a:latin typeface="Arial"/>
                <a:ea typeface="Arial"/>
                <a:cs typeface="Arial"/>
              </a:defRPr>
            </a:pPr>
            <a:r>
              <a:rPr sz="1275" b="0">
                <a:solidFill>
                  <a:srgbClr val="C4D2CE"/>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062CFD1-36D9-45D1-A918-EBFEFEEA4D26}"/>
              </a:ext>
            </a:extLst>
          </p:cNvPr>
          <p:cNvSpPr>
            <a:spLocks xmlns:a="http://schemas.openxmlformats.org/drawingml/2006/main" noGrp="1"/>
          </p:cNvSpPr>
          <p:nvPr/>
        </p:nvSpPr>
        <p:spPr>
          <a:xfrm xmlns:a="http://schemas.openxmlformats.org/drawingml/2006/main">
            <a:off x="762000" y="1847850"/>
            <a:ext cx="105727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En sık gelen sorular</a:t>
            </a:r>
          </a:p>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Doğru cevaplar</a:t>
            </a:r>
          </a:p>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Güncel kaynaklar</a:t>
            </a:r>
          </a:p>
        </p:txBody>
      </p:sp>
      <p:sp>
        <p:nvSpPr>
          <p:cNvPr id="4" name="">
            <a:extLst xmlns:a="http://schemas.openxmlformats.org/drawingml/2006/main">
              <a:ext uri="{FF2B5EF4-FFF2-40B4-BE49-F238E27FC236}">
                <a16:creationId xmlns:a16="http://schemas.microsoft.com/office/drawing/2014/main" id="{BD5C8DA2-9015-422A-80DA-1CF368295BA5}"/>
              </a:ext>
            </a:extLst>
          </p:cNvPr>
          <p:cNvSpPr>
            <a:spLocks xmlns:a="http://schemas.openxmlformats.org/drawingml/2006/main" noGrp="1"/>
          </p:cNvSpPr>
          <p:nvPr/>
        </p:nvSpPr>
        <p:spPr>
          <a:xfrm xmlns:a="http://schemas.openxmlformats.org/drawingml/2006/main">
            <a:off x="762000" y="4552950"/>
            <a:ext cx="10572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C4D2CE"/>
                </a:solidFill>
                <a:latin typeface="Arial"/>
                <a:ea typeface="Arial"/>
                <a:cs typeface="Arial"/>
              </a:defRPr>
            </a:defPPr>
          </a:lstStyle>
          <a:p xmlns:a="http://schemas.openxmlformats.org/drawingml/2006/main">
            <a:pPr>
              <a:defRPr sz="2550" b="0">
                <a:solidFill>
                  <a:srgbClr val="C4D2CE"/>
                </a:solidFill>
                <a:latin typeface="Arial"/>
                <a:ea typeface="Arial"/>
                <a:cs typeface="Arial"/>
              </a:defRPr>
            </a:pPr>
            <a:r>
              <a:rPr sz="2550" b="0">
                <a:solidFill>
                  <a:srgbClr val="C4D2CE"/>
                </a:solidFill>
                <a:latin typeface="Arial"/>
                <a:ea typeface="Arial"/>
                <a:cs typeface="Arial"/>
              </a:rPr>
              <a:t>Rektörlüğün yönlendirmesiyle</a:t>
            </a:r>
          </a:p>
          <a:p xmlns:a="http://schemas.openxmlformats.org/drawingml/2006/main">
            <a:pPr>
              <a:defRPr sz="2550" b="0">
                <a:solidFill>
                  <a:srgbClr val="C4D2CE"/>
                </a:solidFill>
                <a:latin typeface="Arial"/>
                <a:ea typeface="Arial"/>
                <a:cs typeface="Arial"/>
              </a:defRPr>
            </a:pPr>
            <a:r>
              <a:rPr sz="2550" b="0">
                <a:solidFill>
                  <a:srgbClr val="C4D2CE"/>
                </a:solidFill>
                <a:latin typeface="Arial"/>
                <a:ea typeface="Arial"/>
                <a:cs typeface="Arial"/>
              </a:rPr>
              <a:t>ilgili birimlerin değerlendirmeye katılması</a:t>
            </a:r>
          </a:p>
        </p:txBody>
      </p:sp>
    </p:spTree>
    <p:extLst>
      <p:ext uri="{BB962C8B-B14F-4D97-AF65-F5344CB8AC3E}">
        <p14:creationId xmlns:p14="http://schemas.microsoft.com/office/powerpoint/2010/main" val="9076066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2026-10-18T11:54:32.2540000Z</dcterms:created>
  <dcterms:modified xsi:type="dcterms:W3CDTF">2026-10-18T11:54:32.2540000Z</dcterms:modified>
</coreProperties>
</file>