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89b83451c745f0" /><Relationship Type="http://schemas.openxmlformats.org/officeDocument/2006/relationships/extended-properties" Target="/docProps/app.xml" Id="Ra5d1018818e74ad8" /><Relationship Type="http://schemas.openxmlformats.org/officeDocument/2006/relationships/officeDocument" Target="/ppt/presentation.xml" Id="Re4f6995565d14145" /></Relationships>
</file>

<file path=ppt/presentation.xml><?xml version="1.0" encoding="utf-8"?>
<p:presentation xmlns:p="http://schemas.openxmlformats.org/presentationml/2006/main">
  <p:sldMasterIdLst>
    <p:sldMasterId xmlns:r="http://schemas.openxmlformats.org/officeDocument/2006/relationships" id="2147483648" r:id="Rb8a475fe871142d7"/>
  </p:sldMasterIdLst>
  <p:notesMasterIdLst>
    <p:notesMasterId xmlns:r="http://schemas.openxmlformats.org/officeDocument/2006/relationships" r:id="Rfb511e49874d4021"/>
  </p:notesMasterIdLst>
  <p:sldIdLst>
    <p:sldId xmlns:r="http://schemas.openxmlformats.org/officeDocument/2006/relationships" id="256" r:id="Rae9666d0eb494934"/>
    <p:sldId xmlns:r="http://schemas.openxmlformats.org/officeDocument/2006/relationships" id="257" r:id="Ra48f2ede96fb493c"/>
    <p:sldId xmlns:r="http://schemas.openxmlformats.org/officeDocument/2006/relationships" id="258" r:id="R9218b11729d749f0"/>
    <p:sldId xmlns:r="http://schemas.openxmlformats.org/officeDocument/2006/relationships" id="259" r:id="R9a08a6e04fab49ca"/>
    <p:sldId xmlns:r="http://schemas.openxmlformats.org/officeDocument/2006/relationships" id="260" r:id="Rb67d52eef43e472b"/>
    <p:sldId xmlns:r="http://schemas.openxmlformats.org/officeDocument/2006/relationships" id="261" r:id="Rd98cba500c7c4e7c"/>
    <p:sldId xmlns:r="http://schemas.openxmlformats.org/officeDocument/2006/relationships" id="262" r:id="R613d38b98fb74bb7"/>
    <p:sldId xmlns:r="http://schemas.openxmlformats.org/officeDocument/2006/relationships" id="263" r:id="R50f7ce9929b44116"/>
    <p:sldId xmlns:r="http://schemas.openxmlformats.org/officeDocument/2006/relationships" id="264" r:id="Re7993c1f62ba4f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60d896b7e045c4" /><Relationship Type="http://schemas.openxmlformats.org/officeDocument/2006/relationships/slideMaster" Target="/ppt/slideMasters/slideMaster1.xml" Id="Rb8a475fe871142d7" /><Relationship Type="http://schemas.openxmlformats.org/officeDocument/2006/relationships/notesMaster" Target="/ppt/notesMasters/notesMaster1.xml" Id="Rfb511e49874d4021" /><Relationship Type="http://schemas.openxmlformats.org/officeDocument/2006/relationships/presProps" Target="/ppt/presProps.xml" Id="R024354365d7e4ed7" /><Relationship Type="http://schemas.openxmlformats.org/officeDocument/2006/relationships/tableStyles" Target="/ppt/tableStyles.xml" Id="R4d510868c2a744bb" /><Relationship Type="http://schemas.openxmlformats.org/officeDocument/2006/relationships/slide" Target="/ppt/slides/slide1.xml" Id="Rae9666d0eb494934" /><Relationship Type="http://schemas.openxmlformats.org/officeDocument/2006/relationships/slide" Target="/ppt/slides/slide2.xml" Id="Ra48f2ede96fb493c" /><Relationship Type="http://schemas.openxmlformats.org/officeDocument/2006/relationships/slide" Target="/ppt/slides/slide3.xml" Id="R9218b11729d749f0" /><Relationship Type="http://schemas.openxmlformats.org/officeDocument/2006/relationships/slide" Target="/ppt/slides/slide4.xml" Id="R9a08a6e04fab49ca" /><Relationship Type="http://schemas.openxmlformats.org/officeDocument/2006/relationships/slide" Target="/ppt/slides/slide5.xml" Id="Rb67d52eef43e472b" /><Relationship Type="http://schemas.openxmlformats.org/officeDocument/2006/relationships/slide" Target="/ppt/slides/slide6.xml" Id="Rd98cba500c7c4e7c" /><Relationship Type="http://schemas.openxmlformats.org/officeDocument/2006/relationships/slide" Target="/ppt/slides/slide7.xml" Id="R613d38b98fb74bb7" /><Relationship Type="http://schemas.openxmlformats.org/officeDocument/2006/relationships/slide" Target="/ppt/slides/slide8.xml" Id="R50f7ce9929b44116" /><Relationship Type="http://schemas.openxmlformats.org/officeDocument/2006/relationships/slide" Target="/ppt/slides/slide9.xml" Id="Re7993c1f62ba4f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b6e40a640042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d9287b19a646cb" /><Relationship Type="http://schemas.openxmlformats.org/officeDocument/2006/relationships/notesMaster" Target="/ppt/notesMasters/notesMaster1.xml" Id="R52d4be5719e346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e0d6516dc64087" /><Relationship Type="http://schemas.openxmlformats.org/officeDocument/2006/relationships/notesMaster" Target="/ppt/notesMasters/notesMaster1.xml" Id="R0b9a39d25d7946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79cd24ae7f46a9" /><Relationship Type="http://schemas.openxmlformats.org/officeDocument/2006/relationships/notesMaster" Target="/ppt/notesMasters/notesMaster1.xml" Id="Re5f130b71f2e4b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898653a3d545ea" /><Relationship Type="http://schemas.openxmlformats.org/officeDocument/2006/relationships/notesMaster" Target="/ppt/notesMasters/notesMaster1.xml" Id="R26891eb6b6b947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75f9e971414055" /><Relationship Type="http://schemas.openxmlformats.org/officeDocument/2006/relationships/notesMaster" Target="/ppt/notesMasters/notesMaster1.xml" Id="Rb5adebb3ee2040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7f79609baf4a69" /><Relationship Type="http://schemas.openxmlformats.org/officeDocument/2006/relationships/notesMaster" Target="/ppt/notesMasters/notesMaster1.xml" Id="R4dc28ee1b46e4d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b46165cf33422d" /><Relationship Type="http://schemas.openxmlformats.org/officeDocument/2006/relationships/notesMaster" Target="/ppt/notesMasters/notesMaster1.xml" Id="Rce55085a7bbf42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a74b6a4b444b52" /><Relationship Type="http://schemas.openxmlformats.org/officeDocument/2006/relationships/notesMaster" Target="/ppt/notesMasters/notesMaster1.xml" Id="R9ce118b74f8d416e"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fe32c8da5f49fc" /><Relationship Type="http://schemas.openxmlformats.org/officeDocument/2006/relationships/notesMaster" Target="/ppt/notesMasters/notesMaster1.xml" Id="R5d791a2d136648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35 saniye. Sayın Rektörüm, BAKAI üniversitemizin resmî belgelerine dayanarak Türkçe sorulara kaynaklarıyla cevap veren kurumsal bilgi asistanıdır. KTMÜ BAP projemiz kapsamında geliştirdiğim uygulama üniversite sunucusunda çalışıyor. Bugün çalışan sistemi ve personelimizin katılımıyla ilerletebileceğimiz değerlendirme adımını sunacağım.</a:t>
            </a:r>
          </a:p>
          <a:p xmlns:a="http://schemas.openxmlformats.org/drawingml/2006/main">
            <a:r>
              <a:t/>
            </a:r>
          </a:p>
          <a:p xmlns:a="http://schemas.openxmlformats.org/drawingml/2006/main">
            <a:r>
              <a:t>Kaynaklar:</a:t>
            </a:r>
          </a:p>
          <a:p xmlns:a="http://schemas.openxmlformats.org/drawingml/2006/main">
            <a:r>
              <a:t>https://bakai.manas.edu.kg/hakkinda</a:t>
            </a:r>
          </a:p>
          <a:p xmlns:a="http://schemas.openxmlformats.org/drawingml/2006/main">
            <a:r>
              <a:t>frontend/app/lib/project.ts</a:t>
            </a:r>
          </a:p>
          <a:p xmlns:a="http://schemas.openxmlformats.org/drawingml/2006/main">
            <a:r>
              <a:t>docs/deployment/ktmu.md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40 saniye. BAKAI adını Manas Destanı’ndaki bilge danışman Bakay’dan alıyor. BAP başvurusundaki tarihsel ad BAKAY, aynı zamanda Bütünleşik Akıllı Kurumsal Asistan Yazılımı açılımına sahip. Ürün adını BAKAI olarak kullanıyoruz. Resmî BAP adı ve numarası değişmiyor. Uygulamayı Bilgisayar Mühendisliği Bölümünde yürütülen bu araştırma projesi kapsamında geliştirdim.</a:t>
            </a:r>
          </a:p>
          <a:p xmlns:a="http://schemas.openxmlformats.org/drawingml/2006/main">
            <a:r>
              <a:t/>
            </a:r>
          </a:p>
          <a:p xmlns:a="http://schemas.openxmlformats.org/drawingml/2006/main">
            <a:r>
              <a:t>Kaynaklar:</a:t>
            </a:r>
          </a:p>
          <a:p xmlns:a="http://schemas.openxmlformats.org/drawingml/2006/main">
            <a:r>
              <a:t>https://bakai.manas.edu.kg/hakkinda</a:t>
            </a:r>
          </a:p>
          <a:p xmlns:a="http://schemas.openxmlformats.org/drawingml/2006/main">
            <a:r>
              <a:t>frontend/app/lib/project.ts</a:t>
            </a:r>
          </a:p>
          <a:p xmlns:a="http://schemas.openxmlformats.org/drawingml/2006/main">
            <a:r>
              <a:t>BAP_Files/BAP_Basvuru_Formu_TR.pdf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45 saniye. Öğrencilerimiz, adaylarımız ve personelimiz bir sorunun cevabını farklı web sayfalarında veya uzun yönetmeliklerde arayabiliyor. BAKAI’nin amacı, doğal dilde sorulan soruyu ilgili belge bölümleriyle buluşturmak ve cevabın dayanağını görünür kılmak. Beklenen fayda bilgi arama ve tekrarlanan yönlendirme yükünü azaltmak. Bu faydanın büyüklüğünü henüz ölçtüğümüzü iddia etmiyoruz. İndeks sayısı belge veya kullanıcı sayısı değildir.</a:t>
            </a:r>
          </a:p>
          <a:p xmlns:a="http://schemas.openxmlformats.org/drawingml/2006/main">
            <a:r>
              <a:t/>
            </a:r>
          </a:p>
          <a:p xmlns:a="http://schemas.openxmlformats.org/drawingml/2006/main">
            <a:r>
              <a:t>Kaynaklar:</a:t>
            </a:r>
          </a:p>
          <a:p xmlns:a="http://schemas.openxmlformats.org/drawingml/2006/main">
            <a:r>
              <a:t>README.md</a:t>
            </a:r>
          </a:p>
          <a:p xmlns:a="http://schemas.openxmlformats.org/drawingml/2006/main">
            <a:r>
              <a:t>backend/app/rag/pipeline.py</a:t>
            </a:r>
          </a:p>
          <a:p xmlns:a="http://schemas.openxmlformats.org/drawingml/2006/main">
            <a:r>
              <a:t>Canlı /api/health: 18 Ekim 2026, indexed_chunks=39659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50 saniye. Burada canlı sitede kayıtlı gerçek bir görüşmenin ekran görüntüsü var. Örnek soru, lisansta daha önce alınan derslerin saydırılması. Sistem ilgili belge bölümlerini buluyor, yanıtı hazırlıyor ve kaynak parçalarını belge bağlantısıyla birlikte sunuyor. Ekran görüntüsü genel doğruluk oranının kanıtı değildir. Kullanıcı kaynak belgesine geçerek koşulları kontrol edebiliyor. Sonucun doğruluğu, kaynağın yürürlüğü ve eksik koşullar birim uzmanları tarafından değerlendirilmelidir. Model eğitiminden söz etmek yerine belgeye dayalı yanıt üretimini anlatın.</a:t>
            </a:r>
          </a:p>
          <a:p xmlns:a="http://schemas.openxmlformats.org/drawingml/2006/main">
            <a:r>
              <a:t/>
            </a:r>
          </a:p>
          <a:p xmlns:a="http://schemas.openxmlformats.org/drawingml/2006/main">
            <a:r>
              <a:t>Kaynaklar:</a:t>
            </a:r>
          </a:p>
          <a:p xmlns:a="http://schemas.openxmlformats.org/drawingml/2006/main">
            <a:r>
              <a:t>https://bakai.manas.edu.kg/</a:t>
            </a:r>
          </a:p>
          <a:p xmlns:a="http://schemas.openxmlformats.org/drawingml/2006/main">
            <a:r>
              <a:t>assets/bakai-ornek-yanit.png: 18 Ekim 2026 canlı arayüz görüntüsü</a:t>
            </a:r>
          </a:p>
          <a:p xmlns:a="http://schemas.openxmlformats.org/drawingml/2006/main">
            <a:r>
              <a:t>backend/app/rag/pipeline.py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50 saniye. Uygulama üniversite sunucusunda çalışıyor. Dakikalık izleme sistem sağlığını, yanıt sürelerini, hata ve maliyet kayıtlarını takip ediyor. Yönetim ekranı parola korumalı. Soru sınırı IP başına dakikada 30, başka ortak kotalar da var. Bu kural her kullanıcı için ayrı hesap kotası anlamına gelmez. Şüpheli trafikte Turnstile doğrulaması devreye giriyor. Her gece Bişkek saatiyle 02.00’de şifreli yedek Drive’a aktarılıyor. Drive’dan indirilen kopyayla gerçek geri yükleme doğrulandı. E-posta alarmı kurulumu bugün gerçek gelen kutusu teslimatıyla doğrulandı. Koruma önlemleri sıfır risk garantisi vermez.</a:t>
            </a:r>
          </a:p>
          <a:p xmlns:a="http://schemas.openxmlformats.org/drawingml/2006/main">
            <a:r>
              <a:t/>
            </a:r>
          </a:p>
          <a:p xmlns:a="http://schemas.openxmlformats.org/drawingml/2006/main">
            <a:r>
              <a:t>Kaynaklar:</a:t>
            </a:r>
          </a:p>
          <a:p xmlns:a="http://schemas.openxmlformats.org/drawingml/2006/main">
            <a:r>
              <a:t>docs/deployment/operations.md</a:t>
            </a:r>
          </a:p>
          <a:p xmlns:a="http://schemas.openxmlformats.org/drawingml/2006/main">
            <a:r>
              <a:t>collab/board.md: canlı rate limit 30/dakika, 13 Ekim</a:t>
            </a:r>
          </a:p>
          <a:p xmlns:a="http://schemas.openxmlformats.org/drawingml/2006/main">
            <a:r>
              <a:t>backend/app/alerts.py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50 saniye. Canlı yanıt üretiminde Haiku 5.5 kullanıyoruz. Buradaki tutar, 9 Ekim tarihli geliştirme pilotunda adaptive/medium ayarında bulunan 30 yanıtın toplam token maliyeti tahmini. 0,0382614 USD toplamını bin yanıta ölçeklediğimizde yaklaşık 1,28 USD çıkıyor. Bu, güncel tarife taahhüdü veya gelecekteki kullanım bütçesi değildir. Yanıt uzunluğu, düşünme tokenları ve sağlayıcı tarifesi maliyeti değiştirir. Sunucu ve diğer hizmet giderlerini kapsamaz. Canlı panel kullanım sayaçlarından maliyeti tahmin ediyor. Günlük 1 USD eşiği e-posta uyarısı gönderiyor, harcamayı otomatik durdurmuyor.</a:t>
            </a:r>
          </a:p>
          <a:p xmlns:a="http://schemas.openxmlformats.org/drawingml/2006/main">
            <a:r>
              <a:t/>
            </a:r>
          </a:p>
          <a:p xmlns:a="http://schemas.openxmlformats.org/drawingml/2006/main">
            <a:r>
              <a:t>Kaynaklar:</a:t>
            </a:r>
          </a:p>
          <a:p xmlns:a="http://schemas.openxmlformats.org/drawingml/2006/main">
            <a:r>
              <a:t>docs/evaluation/2026-10-09-haiku/report.md: 30 soru, adaptive/medium, 0.0382614 USD</a:t>
            </a:r>
          </a:p>
          <a:p xmlns:a="http://schemas.openxmlformats.org/drawingml/2006/main">
            <a:r>
              <a:t>docs/deployment/operations.md</a:t>
            </a:r>
          </a:p>
          <a:p xmlns:a="http://schemas.openxmlformats.org/drawingml/2006/main">
            <a:r>
              <a:t>Canlı /api/health: llm_model=claude-haiku-5-5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50 saniye. Sunum sonrasında rektörlüğün yönlendirmesiyle personelimizden kendi alanlarında gerçek sorular ve beklenen cevapları isteyebiliriz. Her cevap için yürürlükteki belge veya resmî sayfa bağlantısı da gerekir. BAKAI yanıtlarını bu beklentilerle karşılaştırır, hata veya eksik koşulları ilgili birimle inceleriz. Sonra kaynakları ve sistemi düzeltip aynı soruları tekrar değerlendiririz. Bu aşama planlanan kurum içi değerlendirmedir, tamamlanmış bir doğruluk testi değildir. Pilot deneyleri genel doğruluk yüzdesi olarak sunmayın. Kimlik numarası ve öğrenciye özel kişisel dosyalar yerine anonimleştirilmiş örnekler isteyin.</a:t>
            </a:r>
          </a:p>
          <a:p xmlns:a="http://schemas.openxmlformats.org/drawingml/2006/main">
            <a:r>
              <a:t/>
            </a:r>
          </a:p>
          <a:p xmlns:a="http://schemas.openxmlformats.org/drawingml/2006/main">
            <a:r>
              <a:t>Kaynaklar:</a:t>
            </a:r>
          </a:p>
          <a:p xmlns:a="http://schemas.openxmlformats.org/drawingml/2006/main">
            <a:r>
              <a:t>Kullanıcı yönlendirmesi: kalite değerlendirmesi sunumdan sonra personelin soru-cevaplarıyla</a:t>
            </a:r>
          </a:p>
          <a:p xmlns:a="http://schemas.openxmlformats.org/drawingml/2006/main">
            <a:r>
              <a:t>docs/evaluation/gold-v1/README.md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2 dakika. Sunumdan tarayıcıya geçin ve bakai.manas.edu.kg adresini açın. Önce mevcut kayıtlı örneği gösterebilir veya yeni bir soru sorabilirsiniz. Örnek: “Lisansta daha önce aldığım dersleri saydırabilir miyim?” Yanıt gelince koşullara ve metnin sonundaki belge bağlantısına dikkat çekin. “5 kaynak parçası” düğmesini açıp ilgili bölümün başlığını gösterin. Sayı her sorguda değişebilir. Bağlantıyı yeni sekmede açıp belgenin dayanağını gösterin. Yönetim paneli kullanılacaksa sunum öncesi özel giriş yapın ve yalnız toplu sağlık/maliyet alanlarını gösterin. Sorgu ayrıntılarındaki kişisel bilgileri yansıtmayın. Yanıt gecikirse kaydedilmiş örneğe veya önceki slayttaki gerçek ekran görüntüsüne dönün. Sonraki slayta geçerek birimlerin katkı talebiyle kapatın.</a:t>
            </a:r>
          </a:p>
          <a:p xmlns:a="http://schemas.openxmlformats.org/drawingml/2006/main">
            <a:r>
              <a:t/>
            </a:r>
          </a:p>
          <a:p xmlns:a="http://schemas.openxmlformats.org/drawingml/2006/main">
            <a:r>
              <a:t>Kaynaklar:</a:t>
            </a:r>
          </a:p>
          <a:p xmlns:a="http://schemas.openxmlformats.org/drawingml/2006/main">
            <a:r>
              <a:t>https://bakai.manas.edu.kg/</a:t>
            </a:r>
          </a:p>
          <a:p xmlns:a="http://schemas.openxmlformats.org/drawingml/2006/main">
            <a:r>
              <a:t>Demo-ve-konusma-notlari.md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35 saniye. BAKAI’nin çalışan uygulaması hazır. Bir sonraki adımımız personelimizin soruları ve uzman bilgisiyle yanıt kalitesini kurum içinde değerlendirmek. Rektörlüğümüzün ilgili birimlerden soruları, beklenen cevapları ve güncel kaynakları istemesi bu aşamayı başlatabilir. İlgili birimlerde kaynakları güncel tutacak bir irtibat kişisi belirlemek de süreci sürdürülebilir kılar. Bu aşamada geniş kapsamlı veya kesin bir doğruluk oranı taahhüt etmiyoruz. Teşekkür edip soruları alın.</a:t>
            </a:r>
          </a:p>
          <a:p xmlns:a="http://schemas.openxmlformats.org/drawingml/2006/main">
            <a:r>
              <a:t/>
            </a:r>
          </a:p>
          <a:p xmlns:a="http://schemas.openxmlformats.org/drawingml/2006/main">
            <a:r>
              <a:t>Kaynaklar:</a:t>
            </a:r>
          </a:p>
          <a:p xmlns:a="http://schemas.openxmlformats.org/drawingml/2006/main">
            <a:r>
              <a:t>Kullanıcının rektörlük sunumu ve personel soru-cevap değerlendirmesi planı</a:t>
            </a:r>
          </a:p>
          <a:p xmlns:a="http://schemas.openxmlformats.org/drawingml/2006/main">
            <a:r>
              <a:t>https://bakai.manas.edu.kg/hakkinda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73fdc907e647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e6424898ec44d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c152e6230d0406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4ffda892f1448f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1d7559d6856471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e32c340e95a41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D2252F-99FA-4CFA-B971-E29C6D4C138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272A755-97B0-4AFE-957F-A63307B13C8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1F5AEB6-53F9-4BB4-A6B9-9C8F523B72D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0CE448-D7C3-4FA8-BDC8-024D4AFEF9C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DE9CFB9-4C5F-443B-AF2B-39F273DDDBE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A022D4C-D957-44B2-B5B4-E42D2C7CC3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A8D6D4-DC70-4E6E-B869-18FF0C3AC69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F7A36B0-7F27-4C4D-9A66-08D4F5602F3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F272B9-AF42-4132-9491-300A267D61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39DBACB-A17C-4A46-84AE-397C0A6760A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6f53fc7f494e95" /><Relationship Type="http://schemas.openxmlformats.org/officeDocument/2006/relationships/slideLayout" Target="/ppt/slideLayouts/slideLayout1.xml" Id="R4af7c62a165a4a83" /><Relationship Type="http://schemas.openxmlformats.org/officeDocument/2006/relationships/slideLayout" Target="/ppt/slideLayouts/slideLayout2.xml" Id="Rbe939f9f8bdf4da8" /><Relationship Type="http://schemas.openxmlformats.org/officeDocument/2006/relationships/slideLayout" Target="/ppt/slideLayouts/slideLayout3.xml" Id="R43d7a34197fe4f2f" /><Relationship Type="http://schemas.openxmlformats.org/officeDocument/2006/relationships/slideLayout" Target="/ppt/slideLayouts/slideLayout4.xml" Id="Rd18f626532c54e89" /><Relationship Type="http://schemas.openxmlformats.org/officeDocument/2006/relationships/slideLayout" Target="/ppt/slideLayouts/slideLayout5.xml" Id="R97e1c16326934d4e" /><Relationship Type="http://schemas.openxmlformats.org/officeDocument/2006/relationships/slideLayout" Target="/ppt/slideLayouts/slideLayout6.xml" Id="Reb28b4e5606f4d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f7c62a165a4a83"/>
    <p:sldLayoutId xmlns:r="http://schemas.openxmlformats.org/officeDocument/2006/relationships" id="2147483650" r:id="Rbe939f9f8bdf4da8"/>
    <p:sldLayoutId xmlns:r="http://schemas.openxmlformats.org/officeDocument/2006/relationships" id="2147483651" r:id="R43d7a34197fe4f2f"/>
    <p:sldLayoutId xmlns:r="http://schemas.openxmlformats.org/officeDocument/2006/relationships" id="2147483652" r:id="Rd18f626532c54e89"/>
    <p:sldLayoutId xmlns:r="http://schemas.openxmlformats.org/officeDocument/2006/relationships" id="2147483653" r:id="R97e1c16326934d4e"/>
    <p:sldLayoutId xmlns:r="http://schemas.openxmlformats.org/officeDocument/2006/relationships" id="2147483654" r:id="Reb28b4e5606f4d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252d16db32f4073" /><Relationship Type="http://schemas.openxmlformats.org/officeDocument/2006/relationships/image" Target="/ppt/media/image.png" Id="Rd5bbcb5183a44721" /><Relationship Type="http://schemas.openxmlformats.org/officeDocument/2006/relationships/notesSlide" Target="/ppt/notesSlides/notesSlide1.xml" Id="R05f603232d274a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00d080a4251457b" /><Relationship Type="http://schemas.openxmlformats.org/officeDocument/2006/relationships/notesSlide" Target="/ppt/notesSlides/notesSlide2.xml" Id="R5aeec4eb6a454f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b07be3137334c22" /><Relationship Type="http://schemas.openxmlformats.org/officeDocument/2006/relationships/notesSlide" Target="/ppt/notesSlides/notesSlide3.xml" Id="Rf9328b545fa14d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a7481fca1364666" /><Relationship Type="http://schemas.openxmlformats.org/officeDocument/2006/relationships/image" Target="/ppt/media/image.jpeg" Id="Reef98abf0cde4762" /><Relationship Type="http://schemas.openxmlformats.org/officeDocument/2006/relationships/notesSlide" Target="/ppt/notesSlides/notesSlide4.xml" Id="R78bed3f117604e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525599d7e4843aa" /><Relationship Type="http://schemas.openxmlformats.org/officeDocument/2006/relationships/notesSlide" Target="/ppt/notesSlides/notesSlide5.xml" Id="R6eabf29b657842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0e0b253f9a54f02" /><Relationship Type="http://schemas.openxmlformats.org/officeDocument/2006/relationships/notesSlide" Target="/ppt/notesSlides/notesSlide6.xml" Id="R17bb81f2c3ec40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88349b9b78c4f94" /><Relationship Type="http://schemas.openxmlformats.org/officeDocument/2006/relationships/notesSlide" Target="/ppt/notesSlides/notesSlide7.xml" Id="R845aad412f9944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f73b5eac75f430d" /><Relationship Type="http://schemas.openxmlformats.org/officeDocument/2006/relationships/hyperlink" Target="https://bakai.manas.edu.kg/" TargetMode="External" Id="Rc59e007e95c5406c" /><Relationship Type="http://schemas.openxmlformats.org/officeDocument/2006/relationships/notesSlide" Target="/ppt/notesSlides/notesSlide8.xml" Id="Rd15b0c5932fb4c1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5afe14938a64cf5" /><Relationship Type="http://schemas.openxmlformats.org/officeDocument/2006/relationships/notesSlide" Target="/ppt/notesSlides/notesSlide9.xml" Id="Rece1216252ce449d" /></Relationships>
</file>

<file path=ppt/slides/slide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66BCFB1-2BB1-4E90-AAB4-725154BB550F}"/>
              </a:ext>
            </a:extLst>
          </p:cNvPr>
          <p:cNvSpPr>
            <a:spLocks xmlns:a="http://schemas.openxmlformats.org/drawingml/2006/main" noGrp="1"/>
          </p:cNvSpPr>
          <p:nvPr/>
        </p:nvSpPr>
        <p:spPr>
          <a:xfrm xmlns:a="http://schemas.openxmlformats.org/drawingml/2006/main">
            <a:off x="723900" y="1162050"/>
            <a:ext cx="695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7200" b="1">
                <a:solidFill>
                  <a:srgbClr val="087B72"/>
                </a:solidFill>
                <a:latin typeface="Arial"/>
                <a:ea typeface="Arial"/>
                <a:cs typeface="Arial"/>
              </a:defRPr>
            </a:defPPr>
          </a:lstStyle>
          <a:p xmlns:a="http://schemas.openxmlformats.org/drawingml/2006/main">
            <a:pPr>
              <a:defRPr sz="7200" b="1">
                <a:solidFill>
                  <a:srgbClr val="087B72"/>
                </a:solidFill>
                <a:latin typeface="Arial"/>
                <a:ea typeface="Arial"/>
                <a:cs typeface="Arial"/>
              </a:defRPr>
            </a:pPr>
            <a:r>
              <a:rPr sz="7200" b="1">
                <a:solidFill>
                  <a:srgbClr val="087B72"/>
                </a:solidFill>
                <a:latin typeface="Arial"/>
                <a:ea typeface="Arial"/>
                <a:cs typeface="Arial"/>
              </a:rPr>
              <a:t>BAKAI</a:t>
            </a:r>
          </a:p>
        </p:txBody>
      </p:sp>
      <p:sp>
        <p:nvSpPr>
          <p:cNvPr id="2" name="">
            <a:extLst xmlns:a="http://schemas.openxmlformats.org/drawingml/2006/main">
              <a:ext uri="{FF2B5EF4-FFF2-40B4-BE49-F238E27FC236}">
                <a16:creationId xmlns:a16="http://schemas.microsoft.com/office/drawing/2014/main" id="{DD0E5135-09DF-4A9B-9F99-ACEB80726037}"/>
              </a:ext>
            </a:extLst>
          </p:cNvPr>
          <p:cNvSpPr>
            <a:spLocks xmlns:a="http://schemas.openxmlformats.org/drawingml/2006/main" noGrp="1"/>
          </p:cNvSpPr>
          <p:nvPr/>
        </p:nvSpPr>
        <p:spPr>
          <a:xfrm xmlns:a="http://schemas.openxmlformats.org/drawingml/2006/main">
            <a:off x="762000" y="2466975"/>
            <a:ext cx="6905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42724"/>
                </a:solidFill>
                <a:latin typeface="Arial"/>
                <a:ea typeface="Arial"/>
                <a:cs typeface="Arial"/>
              </a:defRPr>
            </a:defPPr>
          </a:lstStyle>
          <a:p xmlns:a="http://schemas.openxmlformats.org/drawingml/2006/main">
            <a:pPr>
              <a:defRPr sz="3225" b="1">
                <a:solidFill>
                  <a:srgbClr val="142724"/>
                </a:solidFill>
                <a:latin typeface="Arial"/>
                <a:ea typeface="Arial"/>
                <a:cs typeface="Arial"/>
              </a:defRPr>
            </a:pPr>
            <a:r>
              <a:rPr sz="3225" b="1">
                <a:solidFill>
                  <a:srgbClr val="142724"/>
                </a:solidFill>
                <a:latin typeface="Arial"/>
                <a:ea typeface="Arial"/>
                <a:cs typeface="Arial"/>
              </a:rPr>
              <a:t>KTMÜ Kurumsal Bilgi Asistanı</a:t>
            </a:r>
          </a:p>
        </p:txBody>
      </p:sp>
      <p:sp>
        <p:nvSpPr>
          <p:cNvPr id="3" name="">
            <a:extLst xmlns:a="http://schemas.openxmlformats.org/drawingml/2006/main">
              <a:ext uri="{FF2B5EF4-FFF2-40B4-BE49-F238E27FC236}">
                <a16:creationId xmlns:a16="http://schemas.microsoft.com/office/drawing/2014/main" id="{C5591B96-7DCE-44DB-9A45-41AEC1120DC9}"/>
              </a:ext>
            </a:extLst>
          </p:cNvPr>
          <p:cNvSpPr>
            <a:spLocks xmlns:a="http://schemas.openxmlformats.org/drawingml/2006/main" noGrp="1"/>
          </p:cNvSpPr>
          <p:nvPr/>
        </p:nvSpPr>
        <p:spPr>
          <a:xfrm xmlns:a="http://schemas.openxmlformats.org/drawingml/2006/main">
            <a:off x="762000" y="4171950"/>
            <a:ext cx="733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42724"/>
                </a:solidFill>
                <a:latin typeface="Arial"/>
                <a:ea typeface="Arial"/>
                <a:cs typeface="Arial"/>
              </a:defRPr>
            </a:defPPr>
          </a:lstStyle>
          <a:p xmlns:a="http://schemas.openxmlformats.org/drawingml/2006/main">
            <a:pPr>
              <a:defRPr sz="2100" b="0">
                <a:solidFill>
                  <a:srgbClr val="142724"/>
                </a:solidFill>
                <a:latin typeface="Arial"/>
                <a:ea typeface="Arial"/>
                <a:cs typeface="Arial"/>
              </a:defRPr>
            </a:pPr>
            <a:r>
              <a:rPr sz="2100" b="0">
                <a:solidFill>
                  <a:srgbClr val="142724"/>
                </a:solidFill>
                <a:latin typeface="Arial"/>
                <a:ea typeface="Arial"/>
                <a:cs typeface="Arial"/>
              </a:rPr>
              <a:t>Yrd. Doç. Dr. Abdulkadir Şeker</a:t>
            </a:r>
          </a:p>
        </p:txBody>
      </p:sp>
      <p:sp>
        <p:nvSpPr>
          <p:cNvPr id="4" name="">
            <a:extLst xmlns:a="http://schemas.openxmlformats.org/drawingml/2006/main">
              <a:ext uri="{FF2B5EF4-FFF2-40B4-BE49-F238E27FC236}">
                <a16:creationId xmlns:a16="http://schemas.microsoft.com/office/drawing/2014/main" id="{AECE4C77-A9EB-466D-A2FA-1F6D14C2D763}"/>
              </a:ext>
            </a:extLst>
          </p:cNvPr>
          <p:cNvSpPr>
            <a:spLocks xmlns:a="http://schemas.openxmlformats.org/drawingml/2006/main" noGrp="1"/>
          </p:cNvSpPr>
          <p:nvPr/>
        </p:nvSpPr>
        <p:spPr>
          <a:xfrm xmlns:a="http://schemas.openxmlformats.org/drawingml/2006/main">
            <a:off x="762000" y="4629150"/>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35A56"/>
                </a:solidFill>
                <a:latin typeface="Arial"/>
                <a:ea typeface="Arial"/>
                <a:cs typeface="Arial"/>
              </a:defRPr>
            </a:defPPr>
          </a:lstStyle>
          <a:p xmlns:a="http://schemas.openxmlformats.org/drawingml/2006/main">
            <a:pPr>
              <a:defRPr sz="1725" b="0">
                <a:solidFill>
                  <a:srgbClr val="435A56"/>
                </a:solidFill>
                <a:latin typeface="Arial"/>
                <a:ea typeface="Arial"/>
                <a:cs typeface="Arial"/>
              </a:defRPr>
            </a:pPr>
            <a:r>
              <a:rPr sz="1725" b="0">
                <a:solidFill>
                  <a:srgbClr val="435A56"/>
                </a:solidFill>
                <a:latin typeface="Arial"/>
                <a:ea typeface="Arial"/>
                <a:cs typeface="Arial"/>
              </a:rPr>
              <a:t>Proje yürütücüsü ve web uygulamasının geliştiricisi</a:t>
            </a:r>
          </a:p>
        </p:txBody>
      </p:sp>
      <p:sp>
        <p:nvSpPr>
          <p:cNvPr id="5" name="">
            <a:extLst xmlns:a="http://schemas.openxmlformats.org/drawingml/2006/main">
              <a:ext uri="{FF2B5EF4-FFF2-40B4-BE49-F238E27FC236}">
                <a16:creationId xmlns:a16="http://schemas.microsoft.com/office/drawing/2014/main" id="{7C720895-A5C6-4834-AFE3-174804038472}"/>
              </a:ext>
            </a:extLst>
          </p:cNvPr>
          <p:cNvSpPr>
            <a:spLocks xmlns:a="http://schemas.openxmlformats.org/drawingml/2006/main" noGrp="1"/>
          </p:cNvSpPr>
          <p:nvPr/>
        </p:nvSpPr>
        <p:spPr>
          <a:xfrm xmlns:a="http://schemas.openxmlformats.org/drawingml/2006/main">
            <a:off x="762000" y="5686425"/>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435A56"/>
                </a:solidFill>
                <a:latin typeface="Arial"/>
                <a:ea typeface="Arial"/>
                <a:cs typeface="Arial"/>
              </a:defRPr>
            </a:defPPr>
          </a:lstStyle>
          <a:p xmlns:a="http://schemas.openxmlformats.org/drawingml/2006/main">
            <a:pPr>
              <a:defRPr sz="1650" b="0">
                <a:solidFill>
                  <a:srgbClr val="435A56"/>
                </a:solidFill>
                <a:latin typeface="Arial"/>
                <a:ea typeface="Arial"/>
                <a:cs typeface="Arial"/>
              </a:defRPr>
            </a:pPr>
            <a:r>
              <a:rPr sz="1650" b="0">
                <a:solidFill>
                  <a:srgbClr val="435A56"/>
                </a:solidFill>
                <a:latin typeface="Arial"/>
                <a:ea typeface="Arial"/>
                <a:cs typeface="Arial"/>
              </a:rPr>
              <a:t>KTMÜ BAP   KTMU-BAP-2026.FB.05</a:t>
            </a:r>
          </a:p>
        </p:txBody>
      </p:sp>
      <p:pic>
        <p:nvPicPr>
          <p:cNvPr id="6" name="">
            <a:extLst xmlns:a="http://schemas.openxmlformats.org/drawingml/2006/main">
              <a:ext uri="{FF2B5EF4-FFF2-40B4-BE49-F238E27FC236}">
                <a16:creationId xmlns:a16="http://schemas.microsoft.com/office/drawing/2014/main" id="{9D322175-F47C-4008-878E-D76B3AEA2C0C}"/>
              </a:ext>
            </a:extLst>
          </p:cNvPr>
          <p:cNvPicPr>
            <a:picLocks xmlns:a="http://schemas.openxmlformats.org/drawingml/2006/main" noChangeAspect="1"/>
          </p:cNvPicPr>
          <p:nvPr/>
        </p:nvPicPr>
        <p:blipFill>
          <a:blip xmlns:r="http://schemas.openxmlformats.org/officeDocument/2006/relationships" xmlns:a="http://schemas.openxmlformats.org/drawingml/2006/main" r:embed="Rd5bbcb5183a44721"/>
          <a:stretch xmlns:a="http://schemas.openxmlformats.org/drawingml/2006/main"/>
        </p:blipFill>
        <p:spPr>
          <a:xfrm xmlns:a="http://schemas.openxmlformats.org/drawingml/2006/main">
            <a:off x="8648700" y="1581150"/>
            <a:ext cx="2800350" cy="2800350"/>
          </a:xfrm>
          <a:prstGeom xmlns:a="http://schemas.openxmlformats.org/drawingml/2006/main" prst="rect">
            <a:avLst/>
          </a:prstGeom>
        </p:spPr>
      </p:pic>
    </p:spTree>
    <p:extLst>
      <p:ext uri="{BB962C8B-B14F-4D97-AF65-F5344CB8AC3E}">
        <p14:creationId xmlns:p14="http://schemas.microsoft.com/office/powerpoint/2010/main" val="1622611823"/>
      </p:ext>
    </p:extLst>
  </p:cSld>
</p:sld>
</file>

<file path=ppt/slides/slide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A9F62D-97BB-4C20-AA8D-80231129BEB8}"/>
              </a:ext>
            </a:extLst>
          </p:cNvPr>
          <p:cNvSpPr>
            <a:spLocks xmlns:a="http://schemas.openxmlformats.org/drawingml/2006/main" noGrp="1"/>
          </p:cNvSpPr>
          <p:nvPr/>
        </p:nvSpPr>
        <p:spPr>
          <a:xfrm xmlns:a="http://schemas.openxmlformats.org/drawingml/2006/main">
            <a:off x="723900" y="5905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724"/>
                </a:solidFill>
                <a:latin typeface="Arial"/>
                <a:ea typeface="Arial"/>
                <a:cs typeface="Arial"/>
              </a:defRPr>
            </a:defPPr>
          </a:lstStyle>
          <a:p xmlns:a="http://schemas.openxmlformats.org/drawingml/2006/main">
            <a:pPr>
              <a:defRPr sz="3300" b="1">
                <a:solidFill>
                  <a:srgbClr val="142724"/>
                </a:solidFill>
                <a:latin typeface="Arial"/>
                <a:ea typeface="Arial"/>
                <a:cs typeface="Arial"/>
              </a:defRPr>
            </a:pPr>
            <a:r>
              <a:rPr sz="3300" b="1">
                <a:solidFill>
                  <a:srgbClr val="142724"/>
                </a:solidFill>
                <a:latin typeface="Arial"/>
                <a:ea typeface="Arial"/>
                <a:cs typeface="Arial"/>
              </a:rPr>
              <a:t>Projenin kimliği</a:t>
            </a:r>
          </a:p>
        </p:txBody>
      </p:sp>
      <p:sp>
        <p:nvSpPr>
          <p:cNvPr id="2" name="">
            <a:extLst xmlns:a="http://schemas.openxmlformats.org/drawingml/2006/main">
              <a:ext uri="{FF2B5EF4-FFF2-40B4-BE49-F238E27FC236}">
                <a16:creationId xmlns:a16="http://schemas.microsoft.com/office/drawing/2014/main" id="{5A00C378-F854-4955-AB67-B22F6952B284}"/>
              </a:ext>
            </a:extLst>
          </p:cNvPr>
          <p:cNvSpPr>
            <a:spLocks xmlns:a="http://schemas.openxmlformats.org/drawingml/2006/main" noGrp="1"/>
          </p:cNvSpPr>
          <p:nvPr/>
        </p:nvSpPr>
        <p:spPr>
          <a:xfrm xmlns:a="http://schemas.openxmlformats.org/drawingml/2006/main">
            <a:off x="11049000" y="63150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435A56"/>
                </a:solidFill>
                <a:latin typeface="Arial"/>
                <a:ea typeface="Arial"/>
                <a:cs typeface="Arial"/>
              </a:defRPr>
            </a:defPPr>
          </a:lstStyle>
          <a:p xmlns:a="http://schemas.openxmlformats.org/drawingml/2006/main">
            <a:pPr>
              <a:defRPr sz="1275" b="0">
                <a:solidFill>
                  <a:srgbClr val="435A56"/>
                </a:solidFill>
                <a:latin typeface="Arial"/>
                <a:ea typeface="Arial"/>
                <a:cs typeface="Arial"/>
              </a:defRPr>
            </a:pPr>
            <a:r>
              <a:rPr sz="1275" b="0">
                <a:solidFill>
                  <a:srgbClr val="435A56"/>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5D1B03E5-6AA7-4AD6-B779-5495426ACB22}"/>
              </a:ext>
            </a:extLst>
          </p:cNvPr>
          <p:cNvSpPr>
            <a:spLocks xmlns:a="http://schemas.openxmlformats.org/drawingml/2006/main" noGrp="1"/>
          </p:cNvSpPr>
          <p:nvPr/>
        </p:nvSpPr>
        <p:spPr>
          <a:xfrm xmlns:a="http://schemas.openxmlformats.org/drawingml/2006/main">
            <a:off x="742950" y="1847850"/>
            <a:ext cx="628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75" b="1">
                <a:solidFill>
                  <a:srgbClr val="087B72"/>
                </a:solidFill>
                <a:latin typeface="Arial"/>
                <a:ea typeface="Arial"/>
                <a:cs typeface="Arial"/>
              </a:defRPr>
            </a:defPPr>
          </a:lstStyle>
          <a:p xmlns:a="http://schemas.openxmlformats.org/drawingml/2006/main">
            <a:pPr>
              <a:defRPr sz="3675" b="1">
                <a:solidFill>
                  <a:srgbClr val="087B72"/>
                </a:solidFill>
                <a:latin typeface="Arial"/>
                <a:ea typeface="Arial"/>
                <a:cs typeface="Arial"/>
              </a:defRPr>
            </a:pPr>
            <a:r>
              <a:rPr sz="3675" b="1">
                <a:solidFill>
                  <a:srgbClr val="087B72"/>
                </a:solidFill>
                <a:latin typeface="Arial"/>
                <a:ea typeface="Arial"/>
                <a:cs typeface="Arial"/>
              </a:rPr>
              <a:t>Manas Destanı’ndaki</a:t>
            </a:r>
          </a:p>
          <a:p xmlns:a="http://schemas.openxmlformats.org/drawingml/2006/main">
            <a:pPr>
              <a:defRPr sz="3675" b="1">
                <a:solidFill>
                  <a:srgbClr val="087B72"/>
                </a:solidFill>
                <a:latin typeface="Arial"/>
                <a:ea typeface="Arial"/>
                <a:cs typeface="Arial"/>
              </a:defRPr>
            </a:pPr>
            <a:r>
              <a:rPr sz="3675" b="1">
                <a:solidFill>
                  <a:srgbClr val="087B72"/>
                </a:solidFill>
                <a:latin typeface="Arial"/>
                <a:ea typeface="Arial"/>
                <a:cs typeface="Arial"/>
              </a:rPr>
              <a:t>bilge danışman Bakay</a:t>
            </a:r>
          </a:p>
        </p:txBody>
      </p:sp>
      <p:sp>
        <p:nvSpPr>
          <p:cNvPr id="4" name="">
            <a:extLst xmlns:a="http://schemas.openxmlformats.org/drawingml/2006/main">
              <a:ext uri="{FF2B5EF4-FFF2-40B4-BE49-F238E27FC236}">
                <a16:creationId xmlns:a16="http://schemas.microsoft.com/office/drawing/2014/main" id="{610B3A1C-373C-4886-ABF6-1AFB8675ACF5}"/>
              </a:ext>
            </a:extLst>
          </p:cNvPr>
          <p:cNvSpPr>
            <a:spLocks xmlns:a="http://schemas.openxmlformats.org/drawingml/2006/main" noGrp="1"/>
          </p:cNvSpPr>
          <p:nvPr/>
        </p:nvSpPr>
        <p:spPr>
          <a:xfrm xmlns:a="http://schemas.openxmlformats.org/drawingml/2006/main">
            <a:off x="762000" y="3857625"/>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435A56"/>
                </a:solidFill>
                <a:latin typeface="Arial"/>
                <a:ea typeface="Arial"/>
                <a:cs typeface="Arial"/>
              </a:defRPr>
            </a:defPPr>
          </a:lstStyle>
          <a:p xmlns:a="http://schemas.openxmlformats.org/drawingml/2006/main">
            <a:pPr>
              <a:defRPr sz="2100" b="0">
                <a:solidFill>
                  <a:srgbClr val="435A56"/>
                </a:solidFill>
                <a:latin typeface="Arial"/>
                <a:ea typeface="Arial"/>
                <a:cs typeface="Arial"/>
              </a:defRPr>
            </a:pPr>
            <a:r>
              <a:rPr sz="2100" b="0">
                <a:solidFill>
                  <a:srgbClr val="435A56"/>
                </a:solidFill>
                <a:latin typeface="Arial"/>
                <a:ea typeface="Arial"/>
                <a:cs typeface="Arial"/>
              </a:rPr>
              <a:t>Kültürel kökeni, kurumsal bilgiye</a:t>
            </a:r>
          </a:p>
          <a:p xmlns:a="http://schemas.openxmlformats.org/drawingml/2006/main">
            <a:pPr>
              <a:defRPr sz="2100" b="0">
                <a:solidFill>
                  <a:srgbClr val="435A56"/>
                </a:solidFill>
                <a:latin typeface="Arial"/>
                <a:ea typeface="Arial"/>
                <a:cs typeface="Arial"/>
              </a:defRPr>
            </a:pPr>
            <a:r>
              <a:rPr sz="2100" b="0">
                <a:solidFill>
                  <a:srgbClr val="435A56"/>
                </a:solidFill>
                <a:latin typeface="Arial"/>
                <a:ea typeface="Arial"/>
                <a:cs typeface="Arial"/>
              </a:rPr>
              <a:t>rehberlik etme amacıyla buluşturan ad</a:t>
            </a:r>
          </a:p>
        </p:txBody>
      </p:sp>
      <p:sp>
        <p:nvSpPr>
          <p:cNvPr id="5" name="">
            <a:extLst xmlns:a="http://schemas.openxmlformats.org/drawingml/2006/main">
              <a:ext uri="{FF2B5EF4-FFF2-40B4-BE49-F238E27FC236}">
                <a16:creationId xmlns:a16="http://schemas.microsoft.com/office/drawing/2014/main" id="{D2788009-EFC0-449A-9B1F-A89420F42C55}"/>
              </a:ext>
            </a:extLst>
          </p:cNvPr>
          <p:cNvSpPr>
            <a:spLocks xmlns:a="http://schemas.openxmlformats.org/drawingml/2006/main" noGrp="1"/>
          </p:cNvSpPr>
          <p:nvPr/>
        </p:nvSpPr>
        <p:spPr>
          <a:xfrm xmlns:a="http://schemas.openxmlformats.org/drawingml/2006/main">
            <a:off x="7867650" y="19050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087B72"/>
                </a:solidFill>
                <a:latin typeface="Arial"/>
                <a:ea typeface="Arial"/>
                <a:cs typeface="Arial"/>
              </a:defRPr>
            </a:defPPr>
          </a:lstStyle>
          <a:p xmlns:a="http://schemas.openxmlformats.org/drawingml/2006/main">
            <a:pPr>
              <a:defRPr sz="2250" b="1">
                <a:solidFill>
                  <a:srgbClr val="087B72"/>
                </a:solidFill>
                <a:latin typeface="Arial"/>
                <a:ea typeface="Arial"/>
                <a:cs typeface="Arial"/>
              </a:defRPr>
            </a:pPr>
            <a:r>
              <a:rPr sz="2250" b="1">
                <a:solidFill>
                  <a:srgbClr val="087B72"/>
                </a:solidFill>
                <a:latin typeface="Arial"/>
                <a:ea typeface="Arial"/>
                <a:cs typeface="Arial"/>
              </a:rPr>
              <a:t>KTMÜ BAP</a:t>
            </a:r>
          </a:p>
        </p:txBody>
      </p:sp>
      <p:sp>
        <p:nvSpPr>
          <p:cNvPr id="6" name="">
            <a:extLst xmlns:a="http://schemas.openxmlformats.org/drawingml/2006/main">
              <a:ext uri="{FF2B5EF4-FFF2-40B4-BE49-F238E27FC236}">
                <a16:creationId xmlns:a16="http://schemas.microsoft.com/office/drawing/2014/main" id="{5BE03ABA-6AA5-4C22-8AB7-3693E655CCDD}"/>
              </a:ext>
            </a:extLst>
          </p:cNvPr>
          <p:cNvSpPr>
            <a:spLocks xmlns:a="http://schemas.openxmlformats.org/drawingml/2006/main" noGrp="1"/>
          </p:cNvSpPr>
          <p:nvPr/>
        </p:nvSpPr>
        <p:spPr>
          <a:xfrm xmlns:a="http://schemas.openxmlformats.org/drawingml/2006/main">
            <a:off x="7867650" y="2476500"/>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42724"/>
                </a:solidFill>
                <a:latin typeface="Arial"/>
                <a:ea typeface="Arial"/>
                <a:cs typeface="Arial"/>
              </a:defRPr>
            </a:defPPr>
          </a:lstStyle>
          <a:p xmlns:a="http://schemas.openxmlformats.org/drawingml/2006/main">
            <a:pPr>
              <a:defRPr sz="1875" b="1">
                <a:solidFill>
                  <a:srgbClr val="142724"/>
                </a:solidFill>
                <a:latin typeface="Arial"/>
                <a:ea typeface="Arial"/>
                <a:cs typeface="Arial"/>
              </a:defRPr>
            </a:pPr>
            <a:r>
              <a:rPr sz="1875" b="1">
                <a:solidFill>
                  <a:srgbClr val="142724"/>
                </a:solidFill>
                <a:latin typeface="Arial"/>
                <a:ea typeface="Arial"/>
                <a:cs typeface="Arial"/>
              </a:rPr>
              <a:t>KTMU-BAP-2026.FB.05</a:t>
            </a:r>
          </a:p>
        </p:txBody>
      </p:sp>
      <p:sp>
        <p:nvSpPr>
          <p:cNvPr id="7" name="">
            <a:extLst xmlns:a="http://schemas.openxmlformats.org/drawingml/2006/main">
              <a:ext uri="{FF2B5EF4-FFF2-40B4-BE49-F238E27FC236}">
                <a16:creationId xmlns:a16="http://schemas.microsoft.com/office/drawing/2014/main" id="{E36553F9-7644-4EEA-8EEE-6B83316B1318}"/>
              </a:ext>
            </a:extLst>
          </p:cNvPr>
          <p:cNvSpPr>
            <a:spLocks xmlns:a="http://schemas.openxmlformats.org/drawingml/2006/main" noGrp="1"/>
          </p:cNvSpPr>
          <p:nvPr/>
        </p:nvSpPr>
        <p:spPr>
          <a:xfrm xmlns:a="http://schemas.openxmlformats.org/drawingml/2006/main">
            <a:off x="7867650" y="3181350"/>
            <a:ext cx="357187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42724"/>
                </a:solidFill>
                <a:latin typeface="Arial"/>
                <a:ea typeface="Arial"/>
                <a:cs typeface="Arial"/>
              </a:defRPr>
            </a:defPPr>
          </a:lstStyle>
          <a:p xmlns:a="http://schemas.openxmlformats.org/drawingml/2006/main">
            <a:pPr>
              <a:defRPr sz="2100" b="0">
                <a:solidFill>
                  <a:srgbClr val="142724"/>
                </a:solidFill>
                <a:latin typeface="Arial"/>
                <a:ea typeface="Arial"/>
                <a:cs typeface="Arial"/>
              </a:defRPr>
            </a:pPr>
            <a:r>
              <a:rPr sz="2100" b="0">
                <a:solidFill>
                  <a:srgbClr val="142724"/>
                </a:solidFill>
                <a:latin typeface="Arial"/>
                <a:ea typeface="Arial"/>
                <a:cs typeface="Arial"/>
              </a:rPr>
              <a:t>BAKAY: RAG Destekli</a:t>
            </a:r>
          </a:p>
          <a:p xmlns:a="http://schemas.openxmlformats.org/drawingml/2006/main">
            <a:pPr>
              <a:defRPr sz="2100" b="0">
                <a:solidFill>
                  <a:srgbClr val="142724"/>
                </a:solidFill>
                <a:latin typeface="Arial"/>
                <a:ea typeface="Arial"/>
                <a:cs typeface="Arial"/>
              </a:defRPr>
            </a:pPr>
            <a:r>
              <a:rPr sz="2100" b="0">
                <a:solidFill>
                  <a:srgbClr val="142724"/>
                </a:solidFill>
                <a:latin typeface="Arial"/>
                <a:ea typeface="Arial"/>
                <a:cs typeface="Arial"/>
              </a:rPr>
              <a:t>Kurumsal Bilgi Erişim</a:t>
            </a:r>
          </a:p>
          <a:p xmlns:a="http://schemas.openxmlformats.org/drawingml/2006/main">
            <a:pPr>
              <a:defRPr sz="2100" b="0">
                <a:solidFill>
                  <a:srgbClr val="142724"/>
                </a:solidFill>
                <a:latin typeface="Arial"/>
                <a:ea typeface="Arial"/>
                <a:cs typeface="Arial"/>
              </a:defRPr>
            </a:pPr>
            <a:r>
              <a:rPr sz="2100" b="0">
                <a:solidFill>
                  <a:srgbClr val="142724"/>
                </a:solidFill>
                <a:latin typeface="Arial"/>
                <a:ea typeface="Arial"/>
                <a:cs typeface="Arial"/>
              </a:rPr>
              <a:t>ve Danışma Sistemi</a:t>
            </a:r>
          </a:p>
        </p:txBody>
      </p:sp>
      <p:sp>
        <p:nvSpPr>
          <p:cNvPr id="8" name="">
            <a:extLst xmlns:a="http://schemas.openxmlformats.org/drawingml/2006/main">
              <a:ext uri="{FF2B5EF4-FFF2-40B4-BE49-F238E27FC236}">
                <a16:creationId xmlns:a16="http://schemas.microsoft.com/office/drawing/2014/main" id="{0A25DD19-F1C0-4E01-A074-E7CB8C248E70}"/>
              </a:ext>
            </a:extLst>
          </p:cNvPr>
          <p:cNvSpPr>
            <a:spLocks xmlns:a="http://schemas.openxmlformats.org/drawingml/2006/main" noGrp="1"/>
          </p:cNvSpPr>
          <p:nvPr/>
        </p:nvSpPr>
        <p:spPr>
          <a:xfrm xmlns:a="http://schemas.openxmlformats.org/drawingml/2006/main">
            <a:off x="7867650" y="5057775"/>
            <a:ext cx="3667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435A56"/>
                </a:solidFill>
                <a:latin typeface="Arial"/>
                <a:ea typeface="Arial"/>
                <a:cs typeface="Arial"/>
              </a:defRPr>
            </a:defPPr>
          </a:lstStyle>
          <a:p xmlns:a="http://schemas.openxmlformats.org/drawingml/2006/main">
            <a:pPr>
              <a:defRPr sz="1800" b="0">
                <a:solidFill>
                  <a:srgbClr val="435A56"/>
                </a:solidFill>
                <a:latin typeface="Arial"/>
                <a:ea typeface="Arial"/>
                <a:cs typeface="Arial"/>
              </a:defRPr>
            </a:pPr>
            <a:r>
              <a:rPr sz="1800" b="0">
                <a:solidFill>
                  <a:srgbClr val="435A56"/>
                </a:solidFill>
                <a:latin typeface="Arial"/>
                <a:ea typeface="Arial"/>
                <a:cs typeface="Arial"/>
              </a:rPr>
              <a:t>Mühendislik Fakültesi</a:t>
            </a:r>
          </a:p>
          <a:p xmlns:a="http://schemas.openxmlformats.org/drawingml/2006/main">
            <a:pPr>
              <a:defRPr sz="1800" b="0">
                <a:solidFill>
                  <a:srgbClr val="435A56"/>
                </a:solidFill>
                <a:latin typeface="Arial"/>
                <a:ea typeface="Arial"/>
                <a:cs typeface="Arial"/>
              </a:defRPr>
            </a:pPr>
            <a:r>
              <a:rPr sz="1800" b="0">
                <a:solidFill>
                  <a:srgbClr val="435A56"/>
                </a:solidFill>
                <a:latin typeface="Arial"/>
                <a:ea typeface="Arial"/>
                <a:cs typeface="Arial"/>
              </a:rPr>
              <a:t>Bilgisayar Mühendisliği Bölümü</a:t>
            </a:r>
          </a:p>
        </p:txBody>
      </p:sp>
    </p:spTree>
    <p:extLst>
      <p:ext uri="{BB962C8B-B14F-4D97-AF65-F5344CB8AC3E}">
        <p14:creationId xmlns:p14="http://schemas.microsoft.com/office/powerpoint/2010/main" val="330438507"/>
      </p:ext>
    </p:extLst>
  </p:cSld>
</p:sld>
</file>

<file path=ppt/slides/slide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34B5BB-EFF4-4C8A-8402-42A25274D5E2}"/>
              </a:ext>
            </a:extLst>
          </p:cNvPr>
          <p:cNvSpPr>
            <a:spLocks xmlns:a="http://schemas.openxmlformats.org/drawingml/2006/main" noGrp="1"/>
          </p:cNvSpPr>
          <p:nvPr/>
        </p:nvSpPr>
        <p:spPr>
          <a:xfrm xmlns:a="http://schemas.openxmlformats.org/drawingml/2006/main">
            <a:off x="723900" y="5905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724"/>
                </a:solidFill>
                <a:latin typeface="Arial"/>
                <a:ea typeface="Arial"/>
                <a:cs typeface="Arial"/>
              </a:defRPr>
            </a:defPPr>
          </a:lstStyle>
          <a:p xmlns:a="http://schemas.openxmlformats.org/drawingml/2006/main">
            <a:pPr>
              <a:defRPr sz="3300" b="1">
                <a:solidFill>
                  <a:srgbClr val="142724"/>
                </a:solidFill>
                <a:latin typeface="Arial"/>
                <a:ea typeface="Arial"/>
                <a:cs typeface="Arial"/>
              </a:defRPr>
            </a:pPr>
            <a:r>
              <a:rPr sz="3300" b="1">
                <a:solidFill>
                  <a:srgbClr val="142724"/>
                </a:solidFill>
                <a:latin typeface="Arial"/>
                <a:ea typeface="Arial"/>
                <a:cs typeface="Arial"/>
              </a:rPr>
              <a:t>Kurumsal bilgiye erişim</a:t>
            </a:r>
          </a:p>
        </p:txBody>
      </p:sp>
      <p:sp>
        <p:nvSpPr>
          <p:cNvPr id="2" name="">
            <a:extLst xmlns:a="http://schemas.openxmlformats.org/drawingml/2006/main">
              <a:ext uri="{FF2B5EF4-FFF2-40B4-BE49-F238E27FC236}">
                <a16:creationId xmlns:a16="http://schemas.microsoft.com/office/drawing/2014/main" id="{470A99E4-9924-4812-B2DF-3A27BE4D5FF4}"/>
              </a:ext>
            </a:extLst>
          </p:cNvPr>
          <p:cNvSpPr>
            <a:spLocks xmlns:a="http://schemas.openxmlformats.org/drawingml/2006/main" noGrp="1"/>
          </p:cNvSpPr>
          <p:nvPr/>
        </p:nvSpPr>
        <p:spPr>
          <a:xfrm xmlns:a="http://schemas.openxmlformats.org/drawingml/2006/main">
            <a:off x="11049000" y="63150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435A56"/>
                </a:solidFill>
                <a:latin typeface="Arial"/>
                <a:ea typeface="Arial"/>
                <a:cs typeface="Arial"/>
              </a:defRPr>
            </a:defPPr>
          </a:lstStyle>
          <a:p xmlns:a="http://schemas.openxmlformats.org/drawingml/2006/main">
            <a:pPr>
              <a:defRPr sz="1275" b="0">
                <a:solidFill>
                  <a:srgbClr val="435A56"/>
                </a:solidFill>
                <a:latin typeface="Arial"/>
                <a:ea typeface="Arial"/>
                <a:cs typeface="Arial"/>
              </a:defRPr>
            </a:pPr>
            <a:r>
              <a:rPr sz="1275" b="0">
                <a:solidFill>
                  <a:srgbClr val="435A56"/>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29C3D1C8-F556-4365-AA01-69BE6385E2D0}"/>
              </a:ext>
            </a:extLst>
          </p:cNvPr>
          <p:cNvSpPr>
            <a:spLocks xmlns:a="http://schemas.openxmlformats.org/drawingml/2006/main" noGrp="1"/>
          </p:cNvSpPr>
          <p:nvPr/>
        </p:nvSpPr>
        <p:spPr>
          <a:xfrm xmlns:a="http://schemas.openxmlformats.org/drawingml/2006/main">
            <a:off x="742950" y="1819275"/>
            <a:ext cx="1028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42724"/>
                </a:solidFill>
                <a:latin typeface="Arial"/>
                <a:ea typeface="Arial"/>
                <a:cs typeface="Arial"/>
              </a:defRPr>
            </a:defPPr>
          </a:lstStyle>
          <a:p xmlns:a="http://schemas.openxmlformats.org/drawingml/2006/main">
            <a:pPr>
              <a:defRPr sz="3225" b="1">
                <a:solidFill>
                  <a:srgbClr val="142724"/>
                </a:solidFill>
                <a:latin typeface="Arial"/>
                <a:ea typeface="Arial"/>
                <a:cs typeface="Arial"/>
              </a:defRPr>
            </a:pPr>
            <a:r>
              <a:rPr sz="3225" b="1">
                <a:solidFill>
                  <a:srgbClr val="142724"/>
                </a:solidFill>
                <a:latin typeface="Arial"/>
                <a:ea typeface="Arial"/>
                <a:cs typeface="Arial"/>
              </a:rPr>
              <a:t>Öğrenci, aday öğrenci</a:t>
            </a:r>
          </a:p>
          <a:p xmlns:a="http://schemas.openxmlformats.org/drawingml/2006/main">
            <a:pPr>
              <a:defRPr sz="3225" b="1">
                <a:solidFill>
                  <a:srgbClr val="142724"/>
                </a:solidFill>
                <a:latin typeface="Arial"/>
                <a:ea typeface="Arial"/>
                <a:cs typeface="Arial"/>
              </a:defRPr>
            </a:pPr>
            <a:r>
              <a:rPr sz="3225" b="1">
                <a:solidFill>
                  <a:srgbClr val="142724"/>
                </a:solidFill>
                <a:latin typeface="Arial"/>
                <a:ea typeface="Arial"/>
                <a:cs typeface="Arial"/>
              </a:rPr>
              <a:t>ve personel için Türkçe soru-cevap</a:t>
            </a:r>
          </a:p>
        </p:txBody>
      </p:sp>
      <p:sp>
        <p:nvSpPr>
          <p:cNvPr id="4" name="">
            <a:extLst xmlns:a="http://schemas.openxmlformats.org/drawingml/2006/main">
              <a:ext uri="{FF2B5EF4-FFF2-40B4-BE49-F238E27FC236}">
                <a16:creationId xmlns:a16="http://schemas.microsoft.com/office/drawing/2014/main" id="{C1AA22CA-B76E-4C70-A4EC-A9EC616835F7}"/>
              </a:ext>
            </a:extLst>
          </p:cNvPr>
          <p:cNvSpPr>
            <a:spLocks xmlns:a="http://schemas.openxmlformats.org/drawingml/2006/main" noGrp="1"/>
          </p:cNvSpPr>
          <p:nvPr/>
        </p:nvSpPr>
        <p:spPr>
          <a:xfrm xmlns:a="http://schemas.openxmlformats.org/drawingml/2006/main">
            <a:off x="762000" y="3400425"/>
            <a:ext cx="10477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435A56"/>
                </a:solidFill>
                <a:latin typeface="Arial"/>
                <a:ea typeface="Arial"/>
                <a:cs typeface="Arial"/>
              </a:defRPr>
            </a:defPPr>
          </a:lstStyle>
          <a:p xmlns:a="http://schemas.openxmlformats.org/drawingml/2006/main">
            <a:pPr>
              <a:defRPr sz="2175" b="0">
                <a:solidFill>
                  <a:srgbClr val="435A56"/>
                </a:solidFill>
                <a:latin typeface="Arial"/>
                <a:ea typeface="Arial"/>
                <a:cs typeface="Arial"/>
              </a:defRPr>
            </a:pPr>
            <a:r>
              <a:rPr sz="2175" b="0">
                <a:solidFill>
                  <a:srgbClr val="435A56"/>
                </a:solidFill>
                <a:latin typeface="Arial"/>
                <a:ea typeface="Arial"/>
                <a:cs typeface="Arial"/>
              </a:rPr>
              <a:t>Mevzuat, kayıt süreçleri, burslar ve üniversite hizmetleri</a:t>
            </a:r>
          </a:p>
          <a:p xmlns:a="http://schemas.openxmlformats.org/drawingml/2006/main">
            <a:pPr>
              <a:defRPr sz="2175" b="0">
                <a:solidFill>
                  <a:srgbClr val="435A56"/>
                </a:solidFill>
                <a:latin typeface="Arial"/>
                <a:ea typeface="Arial"/>
                <a:cs typeface="Arial"/>
              </a:defRPr>
            </a:pPr>
            <a:r>
              <a:rPr sz="2175" b="0">
                <a:solidFill>
                  <a:srgbClr val="435A56"/>
                </a:solidFill>
                <a:latin typeface="Arial"/>
                <a:ea typeface="Arial"/>
                <a:cs typeface="Arial"/>
              </a:rPr>
              <a:t>İlgili belge bölümlerine dayanan yanıt ve kaynak bağlantısı</a:t>
            </a:r>
          </a:p>
        </p:txBody>
      </p:sp>
      <p:sp>
        <p:nvSpPr>
          <p:cNvPr id="5" name="">
            <a:extLst xmlns:a="http://schemas.openxmlformats.org/drawingml/2006/main">
              <a:ext uri="{FF2B5EF4-FFF2-40B4-BE49-F238E27FC236}">
                <a16:creationId xmlns:a16="http://schemas.microsoft.com/office/drawing/2014/main" id="{8F3D1900-BB79-4DEB-AEFF-FC5E01A5EAB9}"/>
              </a:ext>
            </a:extLst>
          </p:cNvPr>
          <p:cNvSpPr>
            <a:spLocks xmlns:a="http://schemas.openxmlformats.org/drawingml/2006/main" noGrp="1"/>
          </p:cNvSpPr>
          <p:nvPr/>
        </p:nvSpPr>
        <p:spPr>
          <a:xfrm xmlns:a="http://schemas.openxmlformats.org/drawingml/2006/main">
            <a:off x="762000" y="5029200"/>
            <a:ext cx="3524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100" b="1">
                <a:solidFill>
                  <a:srgbClr val="087B72"/>
                </a:solidFill>
                <a:latin typeface="Arial"/>
                <a:ea typeface="Arial"/>
                <a:cs typeface="Arial"/>
              </a:defRPr>
            </a:defPPr>
          </a:lstStyle>
          <a:p xmlns:a="http://schemas.openxmlformats.org/drawingml/2006/main">
            <a:pPr>
              <a:defRPr sz="5100" b="1">
                <a:solidFill>
                  <a:srgbClr val="087B72"/>
                </a:solidFill>
                <a:latin typeface="Arial"/>
                <a:ea typeface="Arial"/>
                <a:cs typeface="Arial"/>
              </a:defRPr>
            </a:pPr>
            <a:r>
              <a:rPr sz="5100" b="1">
                <a:solidFill>
                  <a:srgbClr val="087B72"/>
                </a:solidFill>
                <a:latin typeface="Arial"/>
                <a:ea typeface="Arial"/>
                <a:cs typeface="Arial"/>
              </a:rPr>
              <a:t>39.659</a:t>
            </a:r>
          </a:p>
        </p:txBody>
      </p:sp>
      <p:sp>
        <p:nvSpPr>
          <p:cNvPr id="6" name="">
            <a:extLst xmlns:a="http://schemas.openxmlformats.org/drawingml/2006/main">
              <a:ext uri="{FF2B5EF4-FFF2-40B4-BE49-F238E27FC236}">
                <a16:creationId xmlns:a16="http://schemas.microsoft.com/office/drawing/2014/main" id="{FD510E5F-887D-4BEC-A409-BEDC767BCD45}"/>
              </a:ext>
            </a:extLst>
          </p:cNvPr>
          <p:cNvSpPr>
            <a:spLocks xmlns:a="http://schemas.openxmlformats.org/drawingml/2006/main" noGrp="1"/>
          </p:cNvSpPr>
          <p:nvPr/>
        </p:nvSpPr>
        <p:spPr>
          <a:xfrm xmlns:a="http://schemas.openxmlformats.org/drawingml/2006/main">
            <a:off x="4143375" y="5200650"/>
            <a:ext cx="685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435A56"/>
                </a:solidFill>
                <a:latin typeface="Arial"/>
                <a:ea typeface="Arial"/>
                <a:cs typeface="Arial"/>
              </a:defRPr>
            </a:defPPr>
          </a:lstStyle>
          <a:p xmlns:a="http://schemas.openxmlformats.org/drawingml/2006/main">
            <a:pPr>
              <a:defRPr sz="1950" b="0">
                <a:solidFill>
                  <a:srgbClr val="435A56"/>
                </a:solidFill>
                <a:latin typeface="Arial"/>
                <a:ea typeface="Arial"/>
                <a:cs typeface="Arial"/>
              </a:defRPr>
            </a:pPr>
            <a:r>
              <a:rPr sz="1950" b="0">
                <a:solidFill>
                  <a:srgbClr val="435A56"/>
                </a:solidFill>
                <a:latin typeface="Arial"/>
                <a:ea typeface="Arial"/>
                <a:cs typeface="Arial"/>
              </a:rPr>
              <a:t>indekslenmiş belge parçası</a:t>
            </a:r>
          </a:p>
          <a:p xmlns:a="http://schemas.openxmlformats.org/drawingml/2006/main">
            <a:pPr>
              <a:defRPr sz="1950" b="0">
                <a:solidFill>
                  <a:srgbClr val="435A56"/>
                </a:solidFill>
                <a:latin typeface="Arial"/>
                <a:ea typeface="Arial"/>
                <a:cs typeface="Arial"/>
              </a:defRPr>
            </a:pPr>
            <a:r>
              <a:rPr sz="1950" b="0">
                <a:solidFill>
                  <a:srgbClr val="435A56"/>
                </a:solidFill>
                <a:latin typeface="Arial"/>
                <a:ea typeface="Arial"/>
                <a:cs typeface="Arial"/>
              </a:rPr>
              <a:t>18 Ekim 2026 canlı sistem kaydı</a:t>
            </a:r>
          </a:p>
        </p:txBody>
      </p:sp>
    </p:spTree>
    <p:extLst>
      <p:ext uri="{BB962C8B-B14F-4D97-AF65-F5344CB8AC3E}">
        <p14:creationId xmlns:p14="http://schemas.microsoft.com/office/powerpoint/2010/main" val="147116535"/>
      </p:ext>
    </p:extLst>
  </p:cSld>
</p:sld>
</file>

<file path=ppt/slides/slide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AFF477-7AAC-4E6D-9087-39D8ECC38511}"/>
              </a:ext>
            </a:extLst>
          </p:cNvPr>
          <p:cNvSpPr>
            <a:spLocks xmlns:a="http://schemas.openxmlformats.org/drawingml/2006/main" noGrp="1"/>
          </p:cNvSpPr>
          <p:nvPr/>
        </p:nvSpPr>
        <p:spPr>
          <a:xfrm xmlns:a="http://schemas.openxmlformats.org/drawingml/2006/main">
            <a:off x="723900" y="5905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724"/>
                </a:solidFill>
                <a:latin typeface="Arial"/>
                <a:ea typeface="Arial"/>
                <a:cs typeface="Arial"/>
              </a:defRPr>
            </a:defPPr>
          </a:lstStyle>
          <a:p xmlns:a="http://schemas.openxmlformats.org/drawingml/2006/main">
            <a:pPr>
              <a:defRPr sz="3300" b="1">
                <a:solidFill>
                  <a:srgbClr val="142724"/>
                </a:solidFill>
                <a:latin typeface="Arial"/>
                <a:ea typeface="Arial"/>
                <a:cs typeface="Arial"/>
              </a:defRPr>
            </a:pPr>
            <a:r>
              <a:rPr sz="3300" b="1">
                <a:solidFill>
                  <a:srgbClr val="142724"/>
                </a:solidFill>
                <a:latin typeface="Arial"/>
                <a:ea typeface="Arial"/>
                <a:cs typeface="Arial"/>
              </a:rPr>
              <a:t>Yanıt ve dayandığı kaynak</a:t>
            </a:r>
          </a:p>
        </p:txBody>
      </p:sp>
      <p:sp>
        <p:nvSpPr>
          <p:cNvPr id="2" name="">
            <a:extLst xmlns:a="http://schemas.openxmlformats.org/drawingml/2006/main">
              <a:ext uri="{FF2B5EF4-FFF2-40B4-BE49-F238E27FC236}">
                <a16:creationId xmlns:a16="http://schemas.microsoft.com/office/drawing/2014/main" id="{3202CB01-0EB9-4711-ADFF-3D334381F441}"/>
              </a:ext>
            </a:extLst>
          </p:cNvPr>
          <p:cNvSpPr>
            <a:spLocks xmlns:a="http://schemas.openxmlformats.org/drawingml/2006/main" noGrp="1"/>
          </p:cNvSpPr>
          <p:nvPr/>
        </p:nvSpPr>
        <p:spPr>
          <a:xfrm xmlns:a="http://schemas.openxmlformats.org/drawingml/2006/main">
            <a:off x="11049000" y="63150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435A56"/>
                </a:solidFill>
                <a:latin typeface="Arial"/>
                <a:ea typeface="Arial"/>
                <a:cs typeface="Arial"/>
              </a:defRPr>
            </a:defPPr>
          </a:lstStyle>
          <a:p xmlns:a="http://schemas.openxmlformats.org/drawingml/2006/main">
            <a:pPr>
              <a:defRPr sz="1275" b="0">
                <a:solidFill>
                  <a:srgbClr val="435A56"/>
                </a:solidFill>
                <a:latin typeface="Arial"/>
                <a:ea typeface="Arial"/>
                <a:cs typeface="Arial"/>
              </a:defRPr>
            </a:pPr>
            <a:r>
              <a:rPr sz="1275" b="0">
                <a:solidFill>
                  <a:srgbClr val="435A56"/>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07B7994C-0DA4-4D82-BA61-0FE04ECBAF8D}"/>
              </a:ext>
            </a:extLst>
          </p:cNvPr>
          <p:cNvSpPr>
            <a:spLocks xmlns:a="http://schemas.openxmlformats.org/drawingml/2006/main" noGrp="1"/>
          </p:cNvSpPr>
          <p:nvPr/>
        </p:nvSpPr>
        <p:spPr>
          <a:xfrm xmlns:a="http://schemas.openxmlformats.org/drawingml/2006/main">
            <a:off x="742950" y="1762125"/>
            <a:ext cx="6667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75" b="1">
                <a:solidFill>
                  <a:srgbClr val="087B72"/>
                </a:solidFill>
                <a:latin typeface="Arial"/>
                <a:ea typeface="Arial"/>
                <a:cs typeface="Arial"/>
              </a:defRPr>
            </a:defPPr>
          </a:lstStyle>
          <a:p xmlns:a="http://schemas.openxmlformats.org/drawingml/2006/main">
            <a:pPr>
              <a:defRPr sz="2775" b="1">
                <a:solidFill>
                  <a:srgbClr val="087B72"/>
                </a:solidFill>
                <a:latin typeface="Arial"/>
                <a:ea typeface="Arial"/>
                <a:cs typeface="Arial"/>
              </a:defRPr>
            </a:pPr>
            <a:r>
              <a:rPr sz="2775" b="1">
                <a:solidFill>
                  <a:srgbClr val="087B72"/>
                </a:solidFill>
                <a:latin typeface="Arial"/>
                <a:ea typeface="Arial"/>
                <a:cs typeface="Arial"/>
              </a:rPr>
              <a:t>“Lisansta daha önce aldığım</a:t>
            </a:r>
          </a:p>
          <a:p xmlns:a="http://schemas.openxmlformats.org/drawingml/2006/main">
            <a:pPr>
              <a:defRPr sz="2775" b="1">
                <a:solidFill>
                  <a:srgbClr val="087B72"/>
                </a:solidFill>
                <a:latin typeface="Arial"/>
                <a:ea typeface="Arial"/>
                <a:cs typeface="Arial"/>
              </a:defRPr>
            </a:pPr>
            <a:r>
              <a:rPr sz="2775" b="1">
                <a:solidFill>
                  <a:srgbClr val="087B72"/>
                </a:solidFill>
                <a:latin typeface="Arial"/>
                <a:ea typeface="Arial"/>
                <a:cs typeface="Arial"/>
              </a:rPr>
              <a:t>dersleri saydırabilir miyim?”</a:t>
            </a:r>
          </a:p>
        </p:txBody>
      </p:sp>
      <p:sp>
        <p:nvSpPr>
          <p:cNvPr id="4" name="">
            <a:extLst xmlns:a="http://schemas.openxmlformats.org/drawingml/2006/main">
              <a:ext uri="{FF2B5EF4-FFF2-40B4-BE49-F238E27FC236}">
                <a16:creationId xmlns:a16="http://schemas.microsoft.com/office/drawing/2014/main" id="{06BB52EA-E460-4A2F-A6CD-1572229E99B3}"/>
              </a:ext>
            </a:extLst>
          </p:cNvPr>
          <p:cNvSpPr>
            <a:spLocks xmlns:a="http://schemas.openxmlformats.org/drawingml/2006/main" noGrp="1"/>
          </p:cNvSpPr>
          <p:nvPr/>
        </p:nvSpPr>
        <p:spPr>
          <a:xfrm xmlns:a="http://schemas.openxmlformats.org/drawingml/2006/main">
            <a:off x="762000" y="34004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42724"/>
                </a:solidFill>
                <a:latin typeface="Arial"/>
                <a:ea typeface="Arial"/>
                <a:cs typeface="Arial"/>
              </a:defRPr>
            </a:defPPr>
          </a:lstStyle>
          <a:p xmlns:a="http://schemas.openxmlformats.org/drawingml/2006/main">
            <a:pPr>
              <a:defRPr sz="2175" b="1">
                <a:solidFill>
                  <a:srgbClr val="142724"/>
                </a:solidFill>
                <a:latin typeface="Arial"/>
                <a:ea typeface="Arial"/>
                <a:cs typeface="Arial"/>
              </a:defRPr>
            </a:pPr>
            <a:r>
              <a:rPr sz="2175" b="1">
                <a:solidFill>
                  <a:srgbClr val="142724"/>
                </a:solidFill>
                <a:latin typeface="Arial"/>
                <a:ea typeface="Arial"/>
                <a:cs typeface="Arial"/>
              </a:rPr>
              <a:t>İlgili belge bölümlerini bulur</a:t>
            </a:r>
          </a:p>
        </p:txBody>
      </p:sp>
      <p:sp>
        <p:nvSpPr>
          <p:cNvPr id="5" name="">
            <a:extLst xmlns:a="http://schemas.openxmlformats.org/drawingml/2006/main">
              <a:ext uri="{FF2B5EF4-FFF2-40B4-BE49-F238E27FC236}">
                <a16:creationId xmlns:a16="http://schemas.microsoft.com/office/drawing/2014/main" id="{CA2936AF-F787-4F97-B75E-35D7FD7C3AE6}"/>
              </a:ext>
            </a:extLst>
          </p:cNvPr>
          <p:cNvSpPr>
            <a:spLocks xmlns:a="http://schemas.openxmlformats.org/drawingml/2006/main" noGrp="1"/>
          </p:cNvSpPr>
          <p:nvPr/>
        </p:nvSpPr>
        <p:spPr>
          <a:xfrm xmlns:a="http://schemas.openxmlformats.org/drawingml/2006/main">
            <a:off x="762000" y="40100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42724"/>
                </a:solidFill>
                <a:latin typeface="Arial"/>
                <a:ea typeface="Arial"/>
                <a:cs typeface="Arial"/>
              </a:defRPr>
            </a:defPPr>
          </a:lstStyle>
          <a:p xmlns:a="http://schemas.openxmlformats.org/drawingml/2006/main">
            <a:pPr>
              <a:defRPr sz="2175" b="1">
                <a:solidFill>
                  <a:srgbClr val="142724"/>
                </a:solidFill>
                <a:latin typeface="Arial"/>
                <a:ea typeface="Arial"/>
                <a:cs typeface="Arial"/>
              </a:defRPr>
            </a:pPr>
            <a:r>
              <a:rPr sz="2175" b="1">
                <a:solidFill>
                  <a:srgbClr val="142724"/>
                </a:solidFill>
                <a:latin typeface="Arial"/>
                <a:ea typeface="Arial"/>
                <a:cs typeface="Arial"/>
              </a:rPr>
              <a:t>Yanıtı bulunan kaynaklarla hazırlar</a:t>
            </a:r>
          </a:p>
        </p:txBody>
      </p:sp>
      <p:sp>
        <p:nvSpPr>
          <p:cNvPr id="6" name="">
            <a:extLst xmlns:a="http://schemas.openxmlformats.org/drawingml/2006/main">
              <a:ext uri="{FF2B5EF4-FFF2-40B4-BE49-F238E27FC236}">
                <a16:creationId xmlns:a16="http://schemas.microsoft.com/office/drawing/2014/main" id="{21C660D3-F9CC-4013-87CC-7750A2BC1B3B}"/>
              </a:ext>
            </a:extLst>
          </p:cNvPr>
          <p:cNvSpPr>
            <a:spLocks xmlns:a="http://schemas.openxmlformats.org/drawingml/2006/main" noGrp="1"/>
          </p:cNvSpPr>
          <p:nvPr/>
        </p:nvSpPr>
        <p:spPr>
          <a:xfrm xmlns:a="http://schemas.openxmlformats.org/drawingml/2006/main">
            <a:off x="762000" y="46196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42724"/>
                </a:solidFill>
                <a:latin typeface="Arial"/>
                <a:ea typeface="Arial"/>
                <a:cs typeface="Arial"/>
              </a:defRPr>
            </a:defPPr>
          </a:lstStyle>
          <a:p xmlns:a="http://schemas.openxmlformats.org/drawingml/2006/main">
            <a:pPr>
              <a:defRPr sz="2175" b="1">
                <a:solidFill>
                  <a:srgbClr val="142724"/>
                </a:solidFill>
                <a:latin typeface="Arial"/>
                <a:ea typeface="Arial"/>
                <a:cs typeface="Arial"/>
              </a:defRPr>
            </a:pPr>
            <a:r>
              <a:rPr sz="2175" b="1">
                <a:solidFill>
                  <a:srgbClr val="142724"/>
                </a:solidFill>
                <a:latin typeface="Arial"/>
                <a:ea typeface="Arial"/>
                <a:cs typeface="Arial"/>
              </a:rPr>
              <a:t>Belgeyi açıp doğrulamaya imkân verir</a:t>
            </a:r>
          </a:p>
        </p:txBody>
      </p:sp>
      <p:sp>
        <p:nvSpPr>
          <p:cNvPr id="7" name="">
            <a:extLst xmlns:a="http://schemas.openxmlformats.org/drawingml/2006/main">
              <a:ext uri="{FF2B5EF4-FFF2-40B4-BE49-F238E27FC236}">
                <a16:creationId xmlns:a16="http://schemas.microsoft.com/office/drawing/2014/main" id="{6CEDD58D-953C-44DD-9E8E-96ADAFA379C9}"/>
              </a:ext>
            </a:extLst>
          </p:cNvPr>
          <p:cNvSpPr>
            <a:spLocks xmlns:a="http://schemas.openxmlformats.org/drawingml/2006/main" noGrp="1"/>
          </p:cNvSpPr>
          <p:nvPr/>
        </p:nvSpPr>
        <p:spPr>
          <a:xfrm xmlns:a="http://schemas.openxmlformats.org/drawingml/2006/main">
            <a:off x="762000" y="5619750"/>
            <a:ext cx="647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435A56"/>
                </a:solidFill>
                <a:latin typeface="Arial"/>
                <a:ea typeface="Arial"/>
                <a:cs typeface="Arial"/>
              </a:defRPr>
            </a:defPPr>
          </a:lstStyle>
          <a:p xmlns:a="http://schemas.openxmlformats.org/drawingml/2006/main">
            <a:pPr>
              <a:defRPr sz="1800" b="0">
                <a:solidFill>
                  <a:srgbClr val="435A56"/>
                </a:solidFill>
                <a:latin typeface="Arial"/>
                <a:ea typeface="Arial"/>
                <a:cs typeface="Arial"/>
              </a:defRPr>
            </a:pPr>
            <a:r>
              <a:rPr sz="1800" b="0">
                <a:solidFill>
                  <a:srgbClr val="435A56"/>
                </a:solidFill>
                <a:latin typeface="Arial"/>
                <a:ea typeface="Arial"/>
                <a:cs typeface="Arial"/>
              </a:rPr>
              <a:t>Önemli işlemlerde kaynak ve yetkili birim kontrolü gerekir.</a:t>
            </a:r>
          </a:p>
        </p:txBody>
      </p:sp>
      <p:pic>
        <p:nvPicPr>
          <p:cNvPr id="8" name="">
            <a:extLst xmlns:a="http://schemas.openxmlformats.org/drawingml/2006/main">
              <a:ext uri="{FF2B5EF4-FFF2-40B4-BE49-F238E27FC236}">
                <a16:creationId xmlns:a16="http://schemas.microsoft.com/office/drawing/2014/main" id="{B5813503-FA43-41E7-ACAE-B56078A46DC2}"/>
              </a:ext>
            </a:extLst>
          </p:cNvPr>
          <p:cNvPicPr>
            <a:picLocks xmlns:a="http://schemas.openxmlformats.org/drawingml/2006/main" noChangeAspect="1"/>
          </p:cNvPicPr>
          <p:nvPr/>
        </p:nvPicPr>
        <p:blipFill>
          <a:blip xmlns:r="http://schemas.openxmlformats.org/officeDocument/2006/relationships" xmlns:a="http://schemas.openxmlformats.org/drawingml/2006/main" r:embed="Reef98abf0cde4762"/>
          <a:stretch xmlns:a="http://schemas.openxmlformats.org/drawingml/2006/main"/>
        </p:blipFill>
        <p:spPr>
          <a:xfrm xmlns:a="http://schemas.openxmlformats.org/drawingml/2006/main">
            <a:off x="8127069" y="1285875"/>
            <a:ext cx="2795861" cy="5095875"/>
          </a:xfrm>
          <a:prstGeom xmlns:a="http://schemas.openxmlformats.org/drawingml/2006/main" prst="rect">
            <a:avLst/>
          </a:prstGeom>
        </p:spPr>
      </p:pic>
    </p:spTree>
    <p:extLst>
      <p:ext uri="{BB962C8B-B14F-4D97-AF65-F5344CB8AC3E}">
        <p14:creationId xmlns:p14="http://schemas.microsoft.com/office/powerpoint/2010/main" val="196101409"/>
      </p:ext>
    </p:extLst>
  </p:cSld>
</p:sld>
</file>

<file path=ppt/slides/slide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7666603-FB60-4CAC-AB3F-D0076520FE98}"/>
              </a:ext>
            </a:extLst>
          </p:cNvPr>
          <p:cNvSpPr>
            <a:spLocks xmlns:a="http://schemas.openxmlformats.org/drawingml/2006/main" noGrp="1"/>
          </p:cNvSpPr>
          <p:nvPr/>
        </p:nvSpPr>
        <p:spPr>
          <a:xfrm xmlns:a="http://schemas.openxmlformats.org/drawingml/2006/main">
            <a:off x="723900" y="5905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724"/>
                </a:solidFill>
                <a:latin typeface="Arial"/>
                <a:ea typeface="Arial"/>
                <a:cs typeface="Arial"/>
              </a:defRPr>
            </a:defPPr>
          </a:lstStyle>
          <a:p xmlns:a="http://schemas.openxmlformats.org/drawingml/2006/main">
            <a:pPr>
              <a:defRPr sz="3300" b="1">
                <a:solidFill>
                  <a:srgbClr val="142724"/>
                </a:solidFill>
                <a:latin typeface="Arial"/>
                <a:ea typeface="Arial"/>
                <a:cs typeface="Arial"/>
              </a:defRPr>
            </a:pPr>
            <a:r>
              <a:rPr sz="3300" b="1">
                <a:solidFill>
                  <a:srgbClr val="142724"/>
                </a:solidFill>
                <a:latin typeface="Arial"/>
                <a:ea typeface="Arial"/>
                <a:cs typeface="Arial"/>
              </a:rPr>
              <a:t>Canlı işletim ve koruma</a:t>
            </a:r>
          </a:p>
        </p:txBody>
      </p:sp>
      <p:sp>
        <p:nvSpPr>
          <p:cNvPr id="2" name="">
            <a:extLst xmlns:a="http://schemas.openxmlformats.org/drawingml/2006/main">
              <a:ext uri="{FF2B5EF4-FFF2-40B4-BE49-F238E27FC236}">
                <a16:creationId xmlns:a16="http://schemas.microsoft.com/office/drawing/2014/main" id="{5E741D43-E10D-4402-9EFE-BA895F3F539E}"/>
              </a:ext>
            </a:extLst>
          </p:cNvPr>
          <p:cNvSpPr>
            <a:spLocks xmlns:a="http://schemas.openxmlformats.org/drawingml/2006/main" noGrp="1"/>
          </p:cNvSpPr>
          <p:nvPr/>
        </p:nvSpPr>
        <p:spPr>
          <a:xfrm xmlns:a="http://schemas.openxmlformats.org/drawingml/2006/main">
            <a:off x="11049000" y="63150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435A56"/>
                </a:solidFill>
                <a:latin typeface="Arial"/>
                <a:ea typeface="Arial"/>
                <a:cs typeface="Arial"/>
              </a:defRPr>
            </a:defPPr>
          </a:lstStyle>
          <a:p xmlns:a="http://schemas.openxmlformats.org/drawingml/2006/main">
            <a:pPr>
              <a:defRPr sz="1275" b="0">
                <a:solidFill>
                  <a:srgbClr val="435A56"/>
                </a:solidFill>
                <a:latin typeface="Arial"/>
                <a:ea typeface="Arial"/>
                <a:cs typeface="Arial"/>
              </a:defRPr>
            </a:pPr>
            <a:r>
              <a:rPr sz="1275" b="0">
                <a:solidFill>
                  <a:srgbClr val="435A56"/>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F11F224B-156E-4E27-9DAF-889ADAFFCE33}"/>
              </a:ext>
            </a:extLst>
          </p:cNvPr>
          <p:cNvSpPr>
            <a:spLocks xmlns:a="http://schemas.openxmlformats.org/drawingml/2006/main" noGrp="1"/>
          </p:cNvSpPr>
          <p:nvPr/>
        </p:nvSpPr>
        <p:spPr>
          <a:xfrm xmlns:a="http://schemas.openxmlformats.org/drawingml/2006/main">
            <a:off x="742950" y="1752600"/>
            <a:ext cx="3000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087B72"/>
                </a:solidFill>
                <a:latin typeface="Arial"/>
                <a:ea typeface="Arial"/>
                <a:cs typeface="Arial"/>
              </a:defRPr>
            </a:defPPr>
          </a:lstStyle>
          <a:p xmlns:a="http://schemas.openxmlformats.org/drawingml/2006/main">
            <a:pPr>
              <a:defRPr sz="2400" b="1">
                <a:solidFill>
                  <a:srgbClr val="087B72"/>
                </a:solidFill>
                <a:latin typeface="Arial"/>
                <a:ea typeface="Arial"/>
                <a:cs typeface="Arial"/>
              </a:defRPr>
            </a:pPr>
            <a:r>
              <a:rPr sz="2400" b="1">
                <a:solidFill>
                  <a:srgbClr val="087B72"/>
                </a:solidFill>
                <a:latin typeface="Arial"/>
                <a:ea typeface="Arial"/>
                <a:cs typeface="Arial"/>
              </a:rPr>
              <a:t>İzleme</a:t>
            </a:r>
          </a:p>
        </p:txBody>
      </p:sp>
      <p:sp>
        <p:nvSpPr>
          <p:cNvPr id="4" name="">
            <a:extLst xmlns:a="http://schemas.openxmlformats.org/drawingml/2006/main">
              <a:ext uri="{FF2B5EF4-FFF2-40B4-BE49-F238E27FC236}">
                <a16:creationId xmlns:a16="http://schemas.microsoft.com/office/drawing/2014/main" id="{899250D8-E20D-4E34-BF1A-C8422473B79C}"/>
              </a:ext>
            </a:extLst>
          </p:cNvPr>
          <p:cNvSpPr>
            <a:spLocks xmlns:a="http://schemas.openxmlformats.org/drawingml/2006/main" noGrp="1"/>
          </p:cNvSpPr>
          <p:nvPr/>
        </p:nvSpPr>
        <p:spPr>
          <a:xfrm xmlns:a="http://schemas.openxmlformats.org/drawingml/2006/main">
            <a:off x="3981450" y="1752600"/>
            <a:ext cx="731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42724"/>
                </a:solidFill>
                <a:latin typeface="Arial"/>
                <a:ea typeface="Arial"/>
                <a:cs typeface="Arial"/>
              </a:defRPr>
            </a:defPPr>
          </a:lstStyle>
          <a:p xmlns:a="http://schemas.openxmlformats.org/drawingml/2006/main">
            <a:pPr>
              <a:defRPr sz="2100" b="0">
                <a:solidFill>
                  <a:srgbClr val="142724"/>
                </a:solidFill>
                <a:latin typeface="Arial"/>
                <a:ea typeface="Arial"/>
                <a:cs typeface="Arial"/>
              </a:defRPr>
            </a:pPr>
            <a:r>
              <a:rPr sz="2100" b="0">
                <a:solidFill>
                  <a:srgbClr val="142724"/>
                </a:solidFill>
                <a:latin typeface="Arial"/>
                <a:ea typeface="Arial"/>
                <a:cs typeface="Arial"/>
              </a:rPr>
              <a:t>Sağlık, yanıt süresi, hata ve maliyet kayıtları</a:t>
            </a:r>
          </a:p>
        </p:txBody>
      </p:sp>
      <p:sp>
        <p:nvSpPr>
          <p:cNvPr id="5" name="">
            <a:extLst xmlns:a="http://schemas.openxmlformats.org/drawingml/2006/main">
              <a:ext uri="{FF2B5EF4-FFF2-40B4-BE49-F238E27FC236}">
                <a16:creationId xmlns:a16="http://schemas.microsoft.com/office/drawing/2014/main" id="{A58C63D5-AC11-4046-A01B-A771B1C070A3}"/>
              </a:ext>
            </a:extLst>
          </p:cNvPr>
          <p:cNvSpPr>
            <a:spLocks xmlns:a="http://schemas.openxmlformats.org/drawingml/2006/main" noGrp="1"/>
          </p:cNvSpPr>
          <p:nvPr/>
        </p:nvSpPr>
        <p:spPr>
          <a:xfrm xmlns:a="http://schemas.openxmlformats.org/drawingml/2006/main">
            <a:off x="742950" y="2781300"/>
            <a:ext cx="3000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087B72"/>
                </a:solidFill>
                <a:latin typeface="Arial"/>
                <a:ea typeface="Arial"/>
                <a:cs typeface="Arial"/>
              </a:defRPr>
            </a:defPPr>
          </a:lstStyle>
          <a:p xmlns:a="http://schemas.openxmlformats.org/drawingml/2006/main">
            <a:pPr>
              <a:defRPr sz="2400" b="1">
                <a:solidFill>
                  <a:srgbClr val="087B72"/>
                </a:solidFill>
                <a:latin typeface="Arial"/>
                <a:ea typeface="Arial"/>
                <a:cs typeface="Arial"/>
              </a:defRPr>
            </a:pPr>
            <a:r>
              <a:rPr sz="2400" b="1">
                <a:solidFill>
                  <a:srgbClr val="087B72"/>
                </a:solidFill>
                <a:latin typeface="Arial"/>
                <a:ea typeface="Arial"/>
                <a:cs typeface="Arial"/>
              </a:rPr>
              <a:t>Trafik koruması</a:t>
            </a:r>
          </a:p>
        </p:txBody>
      </p:sp>
      <p:sp>
        <p:nvSpPr>
          <p:cNvPr id="6" name="">
            <a:extLst xmlns:a="http://schemas.openxmlformats.org/drawingml/2006/main">
              <a:ext uri="{FF2B5EF4-FFF2-40B4-BE49-F238E27FC236}">
                <a16:creationId xmlns:a16="http://schemas.microsoft.com/office/drawing/2014/main" id="{F1959A99-97AE-4DCC-A00C-E1D9E73BC5C6}"/>
              </a:ext>
            </a:extLst>
          </p:cNvPr>
          <p:cNvSpPr>
            <a:spLocks xmlns:a="http://schemas.openxmlformats.org/drawingml/2006/main" noGrp="1"/>
          </p:cNvSpPr>
          <p:nvPr/>
        </p:nvSpPr>
        <p:spPr>
          <a:xfrm xmlns:a="http://schemas.openxmlformats.org/drawingml/2006/main">
            <a:off x="3981450" y="2781300"/>
            <a:ext cx="731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42724"/>
                </a:solidFill>
                <a:latin typeface="Arial"/>
                <a:ea typeface="Arial"/>
                <a:cs typeface="Arial"/>
              </a:defRPr>
            </a:defPPr>
          </a:lstStyle>
          <a:p xmlns:a="http://schemas.openxmlformats.org/drawingml/2006/main">
            <a:pPr>
              <a:defRPr sz="2100" b="0">
                <a:solidFill>
                  <a:srgbClr val="142724"/>
                </a:solidFill>
                <a:latin typeface="Arial"/>
                <a:ea typeface="Arial"/>
                <a:cs typeface="Arial"/>
              </a:defRPr>
            </a:pPr>
            <a:r>
              <a:rPr sz="2100" b="0">
                <a:solidFill>
                  <a:srgbClr val="142724"/>
                </a:solidFill>
                <a:latin typeface="Arial"/>
                <a:ea typeface="Arial"/>
                <a:cs typeface="Arial"/>
              </a:rPr>
              <a:t>IP başına 30 soru/dakika ve şüpheli trafik doğrulaması</a:t>
            </a:r>
          </a:p>
        </p:txBody>
      </p:sp>
      <p:sp>
        <p:nvSpPr>
          <p:cNvPr id="7" name="">
            <a:extLst xmlns:a="http://schemas.openxmlformats.org/drawingml/2006/main">
              <a:ext uri="{FF2B5EF4-FFF2-40B4-BE49-F238E27FC236}">
                <a16:creationId xmlns:a16="http://schemas.microsoft.com/office/drawing/2014/main" id="{32A2655F-C55F-44B8-8530-629163A2C3E2}"/>
              </a:ext>
            </a:extLst>
          </p:cNvPr>
          <p:cNvSpPr>
            <a:spLocks xmlns:a="http://schemas.openxmlformats.org/drawingml/2006/main" noGrp="1"/>
          </p:cNvSpPr>
          <p:nvPr/>
        </p:nvSpPr>
        <p:spPr>
          <a:xfrm xmlns:a="http://schemas.openxmlformats.org/drawingml/2006/main">
            <a:off x="742950" y="3810000"/>
            <a:ext cx="3000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087B72"/>
                </a:solidFill>
                <a:latin typeface="Arial"/>
                <a:ea typeface="Arial"/>
                <a:cs typeface="Arial"/>
              </a:defRPr>
            </a:defPPr>
          </a:lstStyle>
          <a:p xmlns:a="http://schemas.openxmlformats.org/drawingml/2006/main">
            <a:pPr>
              <a:defRPr sz="2400" b="1">
                <a:solidFill>
                  <a:srgbClr val="087B72"/>
                </a:solidFill>
                <a:latin typeface="Arial"/>
                <a:ea typeface="Arial"/>
                <a:cs typeface="Arial"/>
              </a:defRPr>
            </a:pPr>
            <a:r>
              <a:rPr sz="2400" b="1">
                <a:solidFill>
                  <a:srgbClr val="087B72"/>
                </a:solidFill>
                <a:latin typeface="Arial"/>
                <a:ea typeface="Arial"/>
                <a:cs typeface="Arial"/>
              </a:rPr>
              <a:t>Yedekleme</a:t>
            </a:r>
          </a:p>
        </p:txBody>
      </p:sp>
      <p:sp>
        <p:nvSpPr>
          <p:cNvPr id="8" name="">
            <a:extLst xmlns:a="http://schemas.openxmlformats.org/drawingml/2006/main">
              <a:ext uri="{FF2B5EF4-FFF2-40B4-BE49-F238E27FC236}">
                <a16:creationId xmlns:a16="http://schemas.microsoft.com/office/drawing/2014/main" id="{A5D3D130-ADE5-45C8-9DC6-6F182D7D6638}"/>
              </a:ext>
            </a:extLst>
          </p:cNvPr>
          <p:cNvSpPr>
            <a:spLocks xmlns:a="http://schemas.openxmlformats.org/drawingml/2006/main" noGrp="1"/>
          </p:cNvSpPr>
          <p:nvPr/>
        </p:nvSpPr>
        <p:spPr>
          <a:xfrm xmlns:a="http://schemas.openxmlformats.org/drawingml/2006/main">
            <a:off x="3981450" y="3810000"/>
            <a:ext cx="731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42724"/>
                </a:solidFill>
                <a:latin typeface="Arial"/>
                <a:ea typeface="Arial"/>
                <a:cs typeface="Arial"/>
              </a:defRPr>
            </a:defPPr>
          </a:lstStyle>
          <a:p xmlns:a="http://schemas.openxmlformats.org/drawingml/2006/main">
            <a:pPr>
              <a:defRPr sz="2100" b="0">
                <a:solidFill>
                  <a:srgbClr val="142724"/>
                </a:solidFill>
                <a:latin typeface="Arial"/>
                <a:ea typeface="Arial"/>
                <a:cs typeface="Arial"/>
              </a:defRPr>
            </a:pPr>
            <a:r>
              <a:rPr sz="2100" b="0">
                <a:solidFill>
                  <a:srgbClr val="142724"/>
                </a:solidFill>
                <a:latin typeface="Arial"/>
                <a:ea typeface="Arial"/>
                <a:cs typeface="Arial"/>
              </a:rPr>
              <a:t>Her gece 02.00 Bişkek, şifreli Google Drive yedeği</a:t>
            </a:r>
          </a:p>
        </p:txBody>
      </p:sp>
      <p:sp>
        <p:nvSpPr>
          <p:cNvPr id="9" name="">
            <a:extLst xmlns:a="http://schemas.openxmlformats.org/drawingml/2006/main">
              <a:ext uri="{FF2B5EF4-FFF2-40B4-BE49-F238E27FC236}">
                <a16:creationId xmlns:a16="http://schemas.microsoft.com/office/drawing/2014/main" id="{587FFA40-7802-4181-9B17-30C0061EF91C}"/>
              </a:ext>
            </a:extLst>
          </p:cNvPr>
          <p:cNvSpPr>
            <a:spLocks xmlns:a="http://schemas.openxmlformats.org/drawingml/2006/main" noGrp="1"/>
          </p:cNvSpPr>
          <p:nvPr/>
        </p:nvSpPr>
        <p:spPr>
          <a:xfrm xmlns:a="http://schemas.openxmlformats.org/drawingml/2006/main">
            <a:off x="742950" y="4838700"/>
            <a:ext cx="3000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087B72"/>
                </a:solidFill>
                <a:latin typeface="Arial"/>
                <a:ea typeface="Arial"/>
                <a:cs typeface="Arial"/>
              </a:defRPr>
            </a:defPPr>
          </a:lstStyle>
          <a:p xmlns:a="http://schemas.openxmlformats.org/drawingml/2006/main">
            <a:pPr>
              <a:defRPr sz="2400" b="1">
                <a:solidFill>
                  <a:srgbClr val="087B72"/>
                </a:solidFill>
                <a:latin typeface="Arial"/>
                <a:ea typeface="Arial"/>
                <a:cs typeface="Arial"/>
              </a:defRPr>
            </a:pPr>
            <a:r>
              <a:rPr sz="2400" b="1">
                <a:solidFill>
                  <a:srgbClr val="087B72"/>
                </a:solidFill>
                <a:latin typeface="Arial"/>
                <a:ea typeface="Arial"/>
                <a:cs typeface="Arial"/>
              </a:rPr>
              <a:t>Yönetici bildirimi</a:t>
            </a:r>
          </a:p>
        </p:txBody>
      </p:sp>
      <p:sp>
        <p:nvSpPr>
          <p:cNvPr id="10" name="">
            <a:extLst xmlns:a="http://schemas.openxmlformats.org/drawingml/2006/main">
              <a:ext uri="{FF2B5EF4-FFF2-40B4-BE49-F238E27FC236}">
                <a16:creationId xmlns:a16="http://schemas.microsoft.com/office/drawing/2014/main" id="{0ED02B29-1472-4F1C-8DA4-007AB57E4937}"/>
              </a:ext>
            </a:extLst>
          </p:cNvPr>
          <p:cNvSpPr>
            <a:spLocks xmlns:a="http://schemas.openxmlformats.org/drawingml/2006/main" noGrp="1"/>
          </p:cNvSpPr>
          <p:nvPr/>
        </p:nvSpPr>
        <p:spPr>
          <a:xfrm xmlns:a="http://schemas.openxmlformats.org/drawingml/2006/main">
            <a:off x="3981450" y="4838700"/>
            <a:ext cx="731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42724"/>
                </a:solidFill>
                <a:latin typeface="Arial"/>
                <a:ea typeface="Arial"/>
                <a:cs typeface="Arial"/>
              </a:defRPr>
            </a:defPPr>
          </a:lstStyle>
          <a:p xmlns:a="http://schemas.openxmlformats.org/drawingml/2006/main">
            <a:pPr>
              <a:defRPr sz="2100" b="0">
                <a:solidFill>
                  <a:srgbClr val="142724"/>
                </a:solidFill>
                <a:latin typeface="Arial"/>
                <a:ea typeface="Arial"/>
                <a:cs typeface="Arial"/>
              </a:defRPr>
            </a:pPr>
            <a:r>
              <a:rPr sz="2100" b="0">
                <a:solidFill>
                  <a:srgbClr val="142724"/>
                </a:solidFill>
                <a:latin typeface="Arial"/>
                <a:ea typeface="Arial"/>
                <a:cs typeface="Arial"/>
              </a:rPr>
              <a:t>Arıza, yedek gecikmesi ve maliyet uyarıları e-postayla</a:t>
            </a:r>
          </a:p>
        </p:txBody>
      </p:sp>
    </p:spTree>
    <p:extLst>
      <p:ext uri="{BB962C8B-B14F-4D97-AF65-F5344CB8AC3E}">
        <p14:creationId xmlns:p14="http://schemas.microsoft.com/office/powerpoint/2010/main" val="72695822"/>
      </p:ext>
    </p:extLst>
  </p:cSld>
</p:sld>
</file>

<file path=ppt/slides/slide6.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2275ED9-CDEF-4AC4-AAD6-C97115F90529}"/>
              </a:ext>
            </a:extLst>
          </p:cNvPr>
          <p:cNvSpPr>
            <a:spLocks xmlns:a="http://schemas.openxmlformats.org/drawingml/2006/main" noGrp="1"/>
          </p:cNvSpPr>
          <p:nvPr/>
        </p:nvSpPr>
        <p:spPr>
          <a:xfrm xmlns:a="http://schemas.openxmlformats.org/drawingml/2006/main">
            <a:off x="723900" y="5905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724"/>
                </a:solidFill>
                <a:latin typeface="Arial"/>
                <a:ea typeface="Arial"/>
                <a:cs typeface="Arial"/>
              </a:defRPr>
            </a:defPPr>
          </a:lstStyle>
          <a:p xmlns:a="http://schemas.openxmlformats.org/drawingml/2006/main">
            <a:pPr>
              <a:defRPr sz="3300" b="1">
                <a:solidFill>
                  <a:srgbClr val="142724"/>
                </a:solidFill>
                <a:latin typeface="Arial"/>
                <a:ea typeface="Arial"/>
                <a:cs typeface="Arial"/>
              </a:defRPr>
            </a:pPr>
            <a:r>
              <a:rPr sz="3300" b="1">
                <a:solidFill>
                  <a:srgbClr val="142724"/>
                </a:solidFill>
                <a:latin typeface="Arial"/>
                <a:ea typeface="Arial"/>
                <a:cs typeface="Arial"/>
              </a:rPr>
              <a:t>Maliyet ve bütçe takibi</a:t>
            </a:r>
          </a:p>
        </p:txBody>
      </p:sp>
      <p:sp>
        <p:nvSpPr>
          <p:cNvPr id="2" name="">
            <a:extLst xmlns:a="http://schemas.openxmlformats.org/drawingml/2006/main">
              <a:ext uri="{FF2B5EF4-FFF2-40B4-BE49-F238E27FC236}">
                <a16:creationId xmlns:a16="http://schemas.microsoft.com/office/drawing/2014/main" id="{1FA8BEF8-F7EB-4B52-8FEC-BE12903F01EF}"/>
              </a:ext>
            </a:extLst>
          </p:cNvPr>
          <p:cNvSpPr>
            <a:spLocks xmlns:a="http://schemas.openxmlformats.org/drawingml/2006/main" noGrp="1"/>
          </p:cNvSpPr>
          <p:nvPr/>
        </p:nvSpPr>
        <p:spPr>
          <a:xfrm xmlns:a="http://schemas.openxmlformats.org/drawingml/2006/main">
            <a:off x="11049000" y="63150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435A56"/>
                </a:solidFill>
                <a:latin typeface="Arial"/>
                <a:ea typeface="Arial"/>
                <a:cs typeface="Arial"/>
              </a:defRPr>
            </a:defPPr>
          </a:lstStyle>
          <a:p xmlns:a="http://schemas.openxmlformats.org/drawingml/2006/main">
            <a:pPr>
              <a:defRPr sz="1275" b="0">
                <a:solidFill>
                  <a:srgbClr val="435A56"/>
                </a:solidFill>
                <a:latin typeface="Arial"/>
                <a:ea typeface="Arial"/>
                <a:cs typeface="Arial"/>
              </a:defRPr>
            </a:pPr>
            <a:r>
              <a:rPr sz="1275" b="0">
                <a:solidFill>
                  <a:srgbClr val="435A56"/>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5E2F2362-9291-4512-8286-27A549C0DA04}"/>
              </a:ext>
            </a:extLst>
          </p:cNvPr>
          <p:cNvSpPr>
            <a:spLocks xmlns:a="http://schemas.openxmlformats.org/drawingml/2006/main" noGrp="1"/>
          </p:cNvSpPr>
          <p:nvPr/>
        </p:nvSpPr>
        <p:spPr>
          <a:xfrm xmlns:a="http://schemas.openxmlformats.org/drawingml/2006/main">
            <a:off x="742950" y="1724025"/>
            <a:ext cx="714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850" b="1">
                <a:solidFill>
                  <a:srgbClr val="087B72"/>
                </a:solidFill>
                <a:latin typeface="Arial"/>
                <a:ea typeface="Arial"/>
                <a:cs typeface="Arial"/>
              </a:defRPr>
            </a:defPPr>
          </a:lstStyle>
          <a:p xmlns:a="http://schemas.openxmlformats.org/drawingml/2006/main">
            <a:pPr>
              <a:defRPr sz="5850" b="1">
                <a:solidFill>
                  <a:srgbClr val="087B72"/>
                </a:solidFill>
                <a:latin typeface="Arial"/>
                <a:ea typeface="Arial"/>
                <a:cs typeface="Arial"/>
              </a:defRPr>
            </a:pPr>
            <a:r>
              <a:rPr sz="5850" b="1">
                <a:solidFill>
                  <a:srgbClr val="087B72"/>
                </a:solidFill>
                <a:latin typeface="Arial"/>
                <a:ea typeface="Arial"/>
                <a:cs typeface="Arial"/>
              </a:rPr>
              <a:t>≈ 1,28 USD</a:t>
            </a:r>
          </a:p>
        </p:txBody>
      </p:sp>
      <p:sp>
        <p:nvSpPr>
          <p:cNvPr id="4" name="">
            <a:extLst xmlns:a="http://schemas.openxmlformats.org/drawingml/2006/main">
              <a:ext uri="{FF2B5EF4-FFF2-40B4-BE49-F238E27FC236}">
                <a16:creationId xmlns:a16="http://schemas.microsoft.com/office/drawing/2014/main" id="{7BE1E999-EBA0-476B-A571-BFF895FB1015}"/>
              </a:ext>
            </a:extLst>
          </p:cNvPr>
          <p:cNvSpPr>
            <a:spLocks xmlns:a="http://schemas.openxmlformats.org/drawingml/2006/main" noGrp="1"/>
          </p:cNvSpPr>
          <p:nvPr/>
        </p:nvSpPr>
        <p:spPr>
          <a:xfrm xmlns:a="http://schemas.openxmlformats.org/drawingml/2006/main">
            <a:off x="762000" y="2943225"/>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42724"/>
                </a:solidFill>
                <a:latin typeface="Arial"/>
                <a:ea typeface="Arial"/>
                <a:cs typeface="Arial"/>
              </a:defRPr>
            </a:defPPr>
          </a:lstStyle>
          <a:p xmlns:a="http://schemas.openxmlformats.org/drawingml/2006/main">
            <a:pPr>
              <a:defRPr sz="2325" b="1">
                <a:solidFill>
                  <a:srgbClr val="142724"/>
                </a:solidFill>
                <a:latin typeface="Arial"/>
                <a:ea typeface="Arial"/>
                <a:cs typeface="Arial"/>
              </a:defRPr>
            </a:pPr>
            <a:r>
              <a:rPr sz="2325" b="1">
                <a:solidFill>
                  <a:srgbClr val="142724"/>
                </a:solidFill>
                <a:latin typeface="Arial"/>
                <a:ea typeface="Arial"/>
                <a:cs typeface="Arial"/>
              </a:rPr>
              <a:t>1.000 yanıt için pilot tüketimine dayalı tahmin</a:t>
            </a:r>
          </a:p>
        </p:txBody>
      </p:sp>
      <p:sp>
        <p:nvSpPr>
          <p:cNvPr id="5" name="">
            <a:extLst xmlns:a="http://schemas.openxmlformats.org/drawingml/2006/main">
              <a:ext uri="{FF2B5EF4-FFF2-40B4-BE49-F238E27FC236}">
                <a16:creationId xmlns:a16="http://schemas.microsoft.com/office/drawing/2014/main" id="{9560A61A-8054-4525-9D2D-9AA6576C55EB}"/>
              </a:ext>
            </a:extLst>
          </p:cNvPr>
          <p:cNvSpPr>
            <a:spLocks xmlns:a="http://schemas.openxmlformats.org/drawingml/2006/main" noGrp="1"/>
          </p:cNvSpPr>
          <p:nvPr/>
        </p:nvSpPr>
        <p:spPr>
          <a:xfrm xmlns:a="http://schemas.openxmlformats.org/drawingml/2006/main">
            <a:off x="762000" y="3800475"/>
            <a:ext cx="1028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435A56"/>
                </a:solidFill>
                <a:latin typeface="Arial"/>
                <a:ea typeface="Arial"/>
                <a:cs typeface="Arial"/>
              </a:defRPr>
            </a:defPPr>
          </a:lstStyle>
          <a:p xmlns:a="http://schemas.openxmlformats.org/drawingml/2006/main">
            <a:pPr>
              <a:defRPr sz="2100" b="0">
                <a:solidFill>
                  <a:srgbClr val="435A56"/>
                </a:solidFill>
                <a:latin typeface="Arial"/>
                <a:ea typeface="Arial"/>
                <a:cs typeface="Arial"/>
              </a:defRPr>
            </a:pPr>
            <a:r>
              <a:rPr sz="2100" b="0">
                <a:solidFill>
                  <a:srgbClr val="435A56"/>
                </a:solidFill>
                <a:latin typeface="Arial"/>
                <a:ea typeface="Arial"/>
                <a:cs typeface="Arial"/>
              </a:rPr>
              <a:t>9 Ekim 2026, Haiku adaptive/medium</a:t>
            </a:r>
          </a:p>
          <a:p xmlns:a="http://schemas.openxmlformats.org/drawingml/2006/main">
            <a:pPr>
              <a:defRPr sz="2100" b="0">
                <a:solidFill>
                  <a:srgbClr val="435A56"/>
                </a:solidFill>
                <a:latin typeface="Arial"/>
                <a:ea typeface="Arial"/>
                <a:cs typeface="Arial"/>
              </a:defRPr>
            </a:pPr>
            <a:r>
              <a:rPr sz="2100" b="0">
                <a:solidFill>
                  <a:srgbClr val="435A56"/>
                </a:solidFill>
                <a:latin typeface="Arial"/>
                <a:ea typeface="Arial"/>
                <a:cs typeface="Arial"/>
              </a:rPr>
              <a:t>30 yanıtın kayıtlı API maliyeti: 0,0383 USD</a:t>
            </a:r>
          </a:p>
        </p:txBody>
      </p:sp>
      <p:sp>
        <p:nvSpPr>
          <p:cNvPr id="6" name="">
            <a:extLst xmlns:a="http://schemas.openxmlformats.org/drawingml/2006/main">
              <a:ext uri="{FF2B5EF4-FFF2-40B4-BE49-F238E27FC236}">
                <a16:creationId xmlns:a16="http://schemas.microsoft.com/office/drawing/2014/main" id="{DD6DBEF8-8DF3-49E1-8FB9-0BE85946FB99}"/>
              </a:ext>
            </a:extLst>
          </p:cNvPr>
          <p:cNvSpPr>
            <a:spLocks xmlns:a="http://schemas.openxmlformats.org/drawingml/2006/main" noGrp="1"/>
          </p:cNvSpPr>
          <p:nvPr/>
        </p:nvSpPr>
        <p:spPr>
          <a:xfrm xmlns:a="http://schemas.openxmlformats.org/drawingml/2006/main">
            <a:off x="762000" y="50958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142724"/>
                </a:solidFill>
                <a:latin typeface="Arial"/>
                <a:ea typeface="Arial"/>
                <a:cs typeface="Arial"/>
              </a:defRPr>
            </a:defPPr>
          </a:lstStyle>
          <a:p xmlns:a="http://schemas.openxmlformats.org/drawingml/2006/main">
            <a:pPr>
              <a:defRPr sz="2475" b="1">
                <a:solidFill>
                  <a:srgbClr val="142724"/>
                </a:solidFill>
                <a:latin typeface="Arial"/>
                <a:ea typeface="Arial"/>
                <a:cs typeface="Arial"/>
              </a:defRPr>
            </a:pPr>
            <a:r>
              <a:rPr sz="2475" b="1">
                <a:solidFill>
                  <a:srgbClr val="142724"/>
                </a:solidFill>
                <a:latin typeface="Arial"/>
                <a:ea typeface="Arial"/>
                <a:cs typeface="Arial"/>
              </a:rPr>
              <a:t>Günlük 1 USD eşiğinde e-posta uyarısı</a:t>
            </a:r>
          </a:p>
        </p:txBody>
      </p:sp>
      <p:sp>
        <p:nvSpPr>
          <p:cNvPr id="7" name="">
            <a:extLst xmlns:a="http://schemas.openxmlformats.org/drawingml/2006/main">
              <a:ext uri="{FF2B5EF4-FFF2-40B4-BE49-F238E27FC236}">
                <a16:creationId xmlns:a16="http://schemas.microsoft.com/office/drawing/2014/main" id="{DF8EAE5D-D8CD-49CE-9A48-891C42D40F2A}"/>
              </a:ext>
            </a:extLst>
          </p:cNvPr>
          <p:cNvSpPr>
            <a:spLocks xmlns:a="http://schemas.openxmlformats.org/drawingml/2006/main" noGrp="1"/>
          </p:cNvSpPr>
          <p:nvPr/>
        </p:nvSpPr>
        <p:spPr>
          <a:xfrm xmlns:a="http://schemas.openxmlformats.org/drawingml/2006/main">
            <a:off x="762000" y="5829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35A56"/>
                </a:solidFill>
                <a:latin typeface="Arial"/>
                <a:ea typeface="Arial"/>
                <a:cs typeface="Arial"/>
              </a:defRPr>
            </a:defPPr>
          </a:lstStyle>
          <a:p xmlns:a="http://schemas.openxmlformats.org/drawingml/2006/main">
            <a:pPr>
              <a:defRPr sz="1725" b="0">
                <a:solidFill>
                  <a:srgbClr val="435A56"/>
                </a:solidFill>
                <a:latin typeface="Arial"/>
                <a:ea typeface="Arial"/>
                <a:cs typeface="Arial"/>
              </a:defRPr>
            </a:pPr>
            <a:r>
              <a:rPr sz="1725" b="0">
                <a:solidFill>
                  <a:srgbClr val="435A56"/>
                </a:solidFill>
                <a:latin typeface="Arial"/>
                <a:ea typeface="Arial"/>
                <a:cs typeface="Arial"/>
              </a:rPr>
              <a:t>Tahmin yalnız LLM kullanımını kapsar. 1 USD uyarı eşiğidir, harcama tavanı değildir.</a:t>
            </a:r>
          </a:p>
        </p:txBody>
      </p:sp>
    </p:spTree>
    <p:extLst>
      <p:ext uri="{BB962C8B-B14F-4D97-AF65-F5344CB8AC3E}">
        <p14:creationId xmlns:p14="http://schemas.microsoft.com/office/powerpoint/2010/main" val="1482237614"/>
      </p:ext>
    </p:extLst>
  </p:cSld>
</p:sld>
</file>

<file path=ppt/slides/slide7.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E66DB1B-B29F-424A-BCCB-F430F10E3C5E}"/>
              </a:ext>
            </a:extLst>
          </p:cNvPr>
          <p:cNvSpPr>
            <a:spLocks xmlns:a="http://schemas.openxmlformats.org/drawingml/2006/main" noGrp="1"/>
          </p:cNvSpPr>
          <p:nvPr/>
        </p:nvSpPr>
        <p:spPr>
          <a:xfrm xmlns:a="http://schemas.openxmlformats.org/drawingml/2006/main">
            <a:off x="723900" y="5905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724"/>
                </a:solidFill>
                <a:latin typeface="Arial"/>
                <a:ea typeface="Arial"/>
                <a:cs typeface="Arial"/>
              </a:defRPr>
            </a:defPPr>
          </a:lstStyle>
          <a:p xmlns:a="http://schemas.openxmlformats.org/drawingml/2006/main">
            <a:pPr>
              <a:defRPr sz="3300" b="1">
                <a:solidFill>
                  <a:srgbClr val="142724"/>
                </a:solidFill>
                <a:latin typeface="Arial"/>
                <a:ea typeface="Arial"/>
                <a:cs typeface="Arial"/>
              </a:defRPr>
            </a:pPr>
            <a:r>
              <a:rPr sz="3300" b="1">
                <a:solidFill>
                  <a:srgbClr val="142724"/>
                </a:solidFill>
                <a:latin typeface="Arial"/>
                <a:ea typeface="Arial"/>
                <a:cs typeface="Arial"/>
              </a:rPr>
              <a:t>Birimlerle yanıt değerlendirmesi</a:t>
            </a:r>
          </a:p>
        </p:txBody>
      </p:sp>
      <p:sp>
        <p:nvSpPr>
          <p:cNvPr id="2" name="">
            <a:extLst xmlns:a="http://schemas.openxmlformats.org/drawingml/2006/main">
              <a:ext uri="{FF2B5EF4-FFF2-40B4-BE49-F238E27FC236}">
                <a16:creationId xmlns:a16="http://schemas.microsoft.com/office/drawing/2014/main" id="{8342233F-1681-4524-B389-FCAAE5C551F1}"/>
              </a:ext>
            </a:extLst>
          </p:cNvPr>
          <p:cNvSpPr>
            <a:spLocks xmlns:a="http://schemas.openxmlformats.org/drawingml/2006/main" noGrp="1"/>
          </p:cNvSpPr>
          <p:nvPr/>
        </p:nvSpPr>
        <p:spPr>
          <a:xfrm xmlns:a="http://schemas.openxmlformats.org/drawingml/2006/main">
            <a:off x="11049000" y="63150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435A56"/>
                </a:solidFill>
                <a:latin typeface="Arial"/>
                <a:ea typeface="Arial"/>
                <a:cs typeface="Arial"/>
              </a:defRPr>
            </a:defPPr>
          </a:lstStyle>
          <a:p xmlns:a="http://schemas.openxmlformats.org/drawingml/2006/main">
            <a:pPr>
              <a:defRPr sz="1275" b="0">
                <a:solidFill>
                  <a:srgbClr val="435A56"/>
                </a:solidFill>
                <a:latin typeface="Arial"/>
                <a:ea typeface="Arial"/>
                <a:cs typeface="Arial"/>
              </a:defRPr>
            </a:pPr>
            <a:r>
              <a:rPr sz="1275" b="0">
                <a:solidFill>
                  <a:srgbClr val="435A56"/>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9ADAF777-5A72-4394-8D48-0564998A2A09}"/>
              </a:ext>
            </a:extLst>
          </p:cNvPr>
          <p:cNvSpPr>
            <a:spLocks xmlns:a="http://schemas.openxmlformats.org/drawingml/2006/main" noGrp="1"/>
          </p:cNvSpPr>
          <p:nvPr/>
        </p:nvSpPr>
        <p:spPr>
          <a:xfrm xmlns:a="http://schemas.openxmlformats.org/drawingml/2006/main">
            <a:off x="742950" y="1809750"/>
            <a:ext cx="3000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087B72"/>
                </a:solidFill>
                <a:latin typeface="Arial"/>
                <a:ea typeface="Arial"/>
                <a:cs typeface="Arial"/>
              </a:defRPr>
            </a:defPPr>
          </a:lstStyle>
          <a:p xmlns:a="http://schemas.openxmlformats.org/drawingml/2006/main">
            <a:pPr>
              <a:defRPr sz="2400" b="1">
                <a:solidFill>
                  <a:srgbClr val="087B72"/>
                </a:solidFill>
                <a:latin typeface="Arial"/>
                <a:ea typeface="Arial"/>
                <a:cs typeface="Arial"/>
              </a:defRPr>
            </a:pPr>
            <a:r>
              <a:rPr sz="2400" b="1">
                <a:solidFill>
                  <a:srgbClr val="087B72"/>
                </a:solidFill>
                <a:latin typeface="Arial"/>
                <a:ea typeface="Arial"/>
                <a:cs typeface="Arial"/>
              </a:rPr>
              <a:t>Birim katkısı</a:t>
            </a:r>
          </a:p>
        </p:txBody>
      </p:sp>
      <p:sp>
        <p:nvSpPr>
          <p:cNvPr id="4" name="">
            <a:extLst xmlns:a="http://schemas.openxmlformats.org/drawingml/2006/main">
              <a:ext uri="{FF2B5EF4-FFF2-40B4-BE49-F238E27FC236}">
                <a16:creationId xmlns:a16="http://schemas.microsoft.com/office/drawing/2014/main" id="{BD081922-7A6E-445D-BE1D-AE17F797991C}"/>
              </a:ext>
            </a:extLst>
          </p:cNvPr>
          <p:cNvSpPr>
            <a:spLocks xmlns:a="http://schemas.openxmlformats.org/drawingml/2006/main" noGrp="1"/>
          </p:cNvSpPr>
          <p:nvPr/>
        </p:nvSpPr>
        <p:spPr>
          <a:xfrm xmlns:a="http://schemas.openxmlformats.org/drawingml/2006/main">
            <a:off x="3981450" y="1809750"/>
            <a:ext cx="731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42724"/>
                </a:solidFill>
                <a:latin typeface="Arial"/>
                <a:ea typeface="Arial"/>
                <a:cs typeface="Arial"/>
              </a:defRPr>
            </a:defPPr>
          </a:lstStyle>
          <a:p xmlns:a="http://schemas.openxmlformats.org/drawingml/2006/main">
            <a:pPr>
              <a:defRPr sz="2100" b="0">
                <a:solidFill>
                  <a:srgbClr val="142724"/>
                </a:solidFill>
                <a:latin typeface="Arial"/>
                <a:ea typeface="Arial"/>
                <a:cs typeface="Arial"/>
              </a:defRPr>
            </a:pPr>
            <a:r>
              <a:rPr sz="2100" b="0">
                <a:solidFill>
                  <a:srgbClr val="142724"/>
                </a:solidFill>
                <a:latin typeface="Arial"/>
                <a:ea typeface="Arial"/>
                <a:cs typeface="Arial"/>
              </a:rPr>
              <a:t>Gerçek soru, beklenen yanıt ve güncel resmî kaynak</a:t>
            </a:r>
          </a:p>
        </p:txBody>
      </p:sp>
      <p:sp>
        <p:nvSpPr>
          <p:cNvPr id="5" name="">
            <a:extLst xmlns:a="http://schemas.openxmlformats.org/drawingml/2006/main">
              <a:ext uri="{FF2B5EF4-FFF2-40B4-BE49-F238E27FC236}">
                <a16:creationId xmlns:a16="http://schemas.microsoft.com/office/drawing/2014/main" id="{8E07EE91-B8B5-4813-9F14-F5DD10EBD245}"/>
              </a:ext>
            </a:extLst>
          </p:cNvPr>
          <p:cNvSpPr>
            <a:spLocks xmlns:a="http://schemas.openxmlformats.org/drawingml/2006/main" noGrp="1"/>
          </p:cNvSpPr>
          <p:nvPr/>
        </p:nvSpPr>
        <p:spPr>
          <a:xfrm xmlns:a="http://schemas.openxmlformats.org/drawingml/2006/main">
            <a:off x="742950" y="2924175"/>
            <a:ext cx="3000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087B72"/>
                </a:solidFill>
                <a:latin typeface="Arial"/>
                <a:ea typeface="Arial"/>
                <a:cs typeface="Arial"/>
              </a:defRPr>
            </a:defPPr>
          </a:lstStyle>
          <a:p xmlns:a="http://schemas.openxmlformats.org/drawingml/2006/main">
            <a:pPr>
              <a:defRPr sz="2400" b="1">
                <a:solidFill>
                  <a:srgbClr val="087B72"/>
                </a:solidFill>
                <a:latin typeface="Arial"/>
                <a:ea typeface="Arial"/>
                <a:cs typeface="Arial"/>
              </a:defRPr>
            </a:pPr>
            <a:r>
              <a:rPr sz="2400" b="1">
                <a:solidFill>
                  <a:srgbClr val="087B72"/>
                </a:solidFill>
                <a:latin typeface="Arial"/>
                <a:ea typeface="Arial"/>
                <a:cs typeface="Arial"/>
              </a:rPr>
              <a:t>Ortak inceleme</a:t>
            </a:r>
          </a:p>
        </p:txBody>
      </p:sp>
      <p:sp>
        <p:nvSpPr>
          <p:cNvPr id="6" name="">
            <a:extLst xmlns:a="http://schemas.openxmlformats.org/drawingml/2006/main">
              <a:ext uri="{FF2B5EF4-FFF2-40B4-BE49-F238E27FC236}">
                <a16:creationId xmlns:a16="http://schemas.microsoft.com/office/drawing/2014/main" id="{F4A1F653-20DB-4A86-925A-0D5C37D9078E}"/>
              </a:ext>
            </a:extLst>
          </p:cNvPr>
          <p:cNvSpPr>
            <a:spLocks xmlns:a="http://schemas.openxmlformats.org/drawingml/2006/main" noGrp="1"/>
          </p:cNvSpPr>
          <p:nvPr/>
        </p:nvSpPr>
        <p:spPr>
          <a:xfrm xmlns:a="http://schemas.openxmlformats.org/drawingml/2006/main">
            <a:off x="3981450" y="2924175"/>
            <a:ext cx="731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42724"/>
                </a:solidFill>
                <a:latin typeface="Arial"/>
                <a:ea typeface="Arial"/>
                <a:cs typeface="Arial"/>
              </a:defRPr>
            </a:defPPr>
          </a:lstStyle>
          <a:p xmlns:a="http://schemas.openxmlformats.org/drawingml/2006/main">
            <a:pPr>
              <a:defRPr sz="2100" b="0">
                <a:solidFill>
                  <a:srgbClr val="142724"/>
                </a:solidFill>
                <a:latin typeface="Arial"/>
                <a:ea typeface="Arial"/>
                <a:cs typeface="Arial"/>
              </a:defRPr>
            </a:pPr>
            <a:r>
              <a:rPr sz="2100" b="0">
                <a:solidFill>
                  <a:srgbClr val="142724"/>
                </a:solidFill>
                <a:latin typeface="Arial"/>
                <a:ea typeface="Arial"/>
                <a:cs typeface="Arial"/>
              </a:rPr>
              <a:t>Yanıt doğruluğu, eksik koşullar ve kaynak uygunluğu</a:t>
            </a:r>
          </a:p>
        </p:txBody>
      </p:sp>
      <p:sp>
        <p:nvSpPr>
          <p:cNvPr id="7" name="">
            <a:extLst xmlns:a="http://schemas.openxmlformats.org/drawingml/2006/main">
              <a:ext uri="{FF2B5EF4-FFF2-40B4-BE49-F238E27FC236}">
                <a16:creationId xmlns:a16="http://schemas.microsoft.com/office/drawing/2014/main" id="{604E0506-28A4-4CB7-84D6-DB31F47F157F}"/>
              </a:ext>
            </a:extLst>
          </p:cNvPr>
          <p:cNvSpPr>
            <a:spLocks xmlns:a="http://schemas.openxmlformats.org/drawingml/2006/main" noGrp="1"/>
          </p:cNvSpPr>
          <p:nvPr/>
        </p:nvSpPr>
        <p:spPr>
          <a:xfrm xmlns:a="http://schemas.openxmlformats.org/drawingml/2006/main">
            <a:off x="742950" y="4038600"/>
            <a:ext cx="3000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087B72"/>
                </a:solidFill>
                <a:latin typeface="Arial"/>
                <a:ea typeface="Arial"/>
                <a:cs typeface="Arial"/>
              </a:defRPr>
            </a:defPPr>
          </a:lstStyle>
          <a:p xmlns:a="http://schemas.openxmlformats.org/drawingml/2006/main">
            <a:pPr>
              <a:defRPr sz="2400" b="1">
                <a:solidFill>
                  <a:srgbClr val="087B72"/>
                </a:solidFill>
                <a:latin typeface="Arial"/>
                <a:ea typeface="Arial"/>
                <a:cs typeface="Arial"/>
              </a:defRPr>
            </a:pPr>
            <a:r>
              <a:rPr sz="2400" b="1">
                <a:solidFill>
                  <a:srgbClr val="087B72"/>
                </a:solidFill>
                <a:latin typeface="Arial"/>
                <a:ea typeface="Arial"/>
                <a:cs typeface="Arial"/>
              </a:rPr>
              <a:t>İyileştirme</a:t>
            </a:r>
          </a:p>
        </p:txBody>
      </p:sp>
      <p:sp>
        <p:nvSpPr>
          <p:cNvPr id="8" name="">
            <a:extLst xmlns:a="http://schemas.openxmlformats.org/drawingml/2006/main">
              <a:ext uri="{FF2B5EF4-FFF2-40B4-BE49-F238E27FC236}">
                <a16:creationId xmlns:a16="http://schemas.microsoft.com/office/drawing/2014/main" id="{9F47DE81-A376-4ECE-9380-C28DD1994E1B}"/>
              </a:ext>
            </a:extLst>
          </p:cNvPr>
          <p:cNvSpPr>
            <a:spLocks xmlns:a="http://schemas.openxmlformats.org/drawingml/2006/main" noGrp="1"/>
          </p:cNvSpPr>
          <p:nvPr/>
        </p:nvSpPr>
        <p:spPr>
          <a:xfrm xmlns:a="http://schemas.openxmlformats.org/drawingml/2006/main">
            <a:off x="3981450" y="4038600"/>
            <a:ext cx="731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42724"/>
                </a:solidFill>
                <a:latin typeface="Arial"/>
                <a:ea typeface="Arial"/>
                <a:cs typeface="Arial"/>
              </a:defRPr>
            </a:defPPr>
          </a:lstStyle>
          <a:p xmlns:a="http://schemas.openxmlformats.org/drawingml/2006/main">
            <a:pPr>
              <a:defRPr sz="2100" b="0">
                <a:solidFill>
                  <a:srgbClr val="142724"/>
                </a:solidFill>
                <a:latin typeface="Arial"/>
                <a:ea typeface="Arial"/>
                <a:cs typeface="Arial"/>
              </a:defRPr>
            </a:pPr>
            <a:r>
              <a:rPr sz="2100" b="0">
                <a:solidFill>
                  <a:srgbClr val="142724"/>
                </a:solidFill>
                <a:latin typeface="Arial"/>
                <a:ea typeface="Arial"/>
                <a:cs typeface="Arial"/>
              </a:rPr>
              <a:t>Eksik kaynakları tamamlama ve hatalı yanıtları düzeltme</a:t>
            </a:r>
          </a:p>
        </p:txBody>
      </p:sp>
      <p:sp>
        <p:nvSpPr>
          <p:cNvPr id="9" name="">
            <a:extLst xmlns:a="http://schemas.openxmlformats.org/drawingml/2006/main">
              <a:ext uri="{FF2B5EF4-FFF2-40B4-BE49-F238E27FC236}">
                <a16:creationId xmlns:a16="http://schemas.microsoft.com/office/drawing/2014/main" id="{208C7260-56D2-4F08-BDF0-BB0CAF3BF695}"/>
              </a:ext>
            </a:extLst>
          </p:cNvPr>
          <p:cNvSpPr>
            <a:spLocks xmlns:a="http://schemas.openxmlformats.org/drawingml/2006/main" noGrp="1"/>
          </p:cNvSpPr>
          <p:nvPr/>
        </p:nvSpPr>
        <p:spPr>
          <a:xfrm xmlns:a="http://schemas.openxmlformats.org/drawingml/2006/main">
            <a:off x="762000" y="5505450"/>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87B72"/>
                </a:solidFill>
                <a:latin typeface="Arial"/>
                <a:ea typeface="Arial"/>
                <a:cs typeface="Arial"/>
              </a:defRPr>
            </a:defPPr>
          </a:lstStyle>
          <a:p xmlns:a="http://schemas.openxmlformats.org/drawingml/2006/main">
            <a:pPr>
              <a:defRPr sz="2175" b="1">
                <a:solidFill>
                  <a:srgbClr val="087B72"/>
                </a:solidFill>
                <a:latin typeface="Arial"/>
                <a:ea typeface="Arial"/>
                <a:cs typeface="Arial"/>
              </a:defRPr>
            </a:pPr>
            <a:r>
              <a:rPr sz="2175" b="1">
                <a:solidFill>
                  <a:srgbClr val="087B72"/>
                </a:solidFill>
                <a:latin typeface="Arial"/>
                <a:ea typeface="Arial"/>
                <a:cs typeface="Arial"/>
              </a:rPr>
              <a:t>Kurum çapındaki doğruluk değerlendirmesi bu aşamada yapılacak.</a:t>
            </a:r>
          </a:p>
        </p:txBody>
      </p:sp>
    </p:spTree>
    <p:extLst>
      <p:ext uri="{BB962C8B-B14F-4D97-AF65-F5344CB8AC3E}">
        <p14:creationId xmlns:p14="http://schemas.microsoft.com/office/powerpoint/2010/main" val="1185272116"/>
      </p:ext>
    </p:extLst>
  </p:cSld>
</p:sld>
</file>

<file path=ppt/slides/slide8.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6894A8F-535C-4950-B1CB-921B99E28186}"/>
              </a:ext>
            </a:extLst>
          </p:cNvPr>
          <p:cNvSpPr>
            <a:spLocks xmlns:a="http://schemas.openxmlformats.org/drawingml/2006/main" noGrp="1"/>
          </p:cNvSpPr>
          <p:nvPr/>
        </p:nvSpPr>
        <p:spPr>
          <a:xfrm xmlns:a="http://schemas.openxmlformats.org/drawingml/2006/main">
            <a:off x="723900" y="5905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724"/>
                </a:solidFill>
                <a:latin typeface="Arial"/>
                <a:ea typeface="Arial"/>
                <a:cs typeface="Arial"/>
              </a:defRPr>
            </a:defPPr>
          </a:lstStyle>
          <a:p xmlns:a="http://schemas.openxmlformats.org/drawingml/2006/main">
            <a:pPr>
              <a:defRPr sz="3300" b="1">
                <a:solidFill>
                  <a:srgbClr val="142724"/>
                </a:solidFill>
                <a:latin typeface="Arial"/>
                <a:ea typeface="Arial"/>
                <a:cs typeface="Arial"/>
              </a:defRPr>
            </a:pPr>
            <a:r>
              <a:rPr sz="3300" b="1">
                <a:solidFill>
                  <a:srgbClr val="142724"/>
                </a:solidFill>
                <a:latin typeface="Arial"/>
                <a:ea typeface="Arial"/>
                <a:cs typeface="Arial"/>
              </a:rPr>
              <a:t>Canlı gösterim</a:t>
            </a:r>
          </a:p>
        </p:txBody>
      </p:sp>
      <p:sp>
        <p:nvSpPr>
          <p:cNvPr id="2" name="">
            <a:extLst xmlns:a="http://schemas.openxmlformats.org/drawingml/2006/main">
              <a:ext uri="{FF2B5EF4-FFF2-40B4-BE49-F238E27FC236}">
                <a16:creationId xmlns:a16="http://schemas.microsoft.com/office/drawing/2014/main" id="{C9AC403D-8C41-4AB1-A855-8EA78A3E11DB}"/>
              </a:ext>
            </a:extLst>
          </p:cNvPr>
          <p:cNvSpPr>
            <a:spLocks xmlns:a="http://schemas.openxmlformats.org/drawingml/2006/main" noGrp="1"/>
          </p:cNvSpPr>
          <p:nvPr/>
        </p:nvSpPr>
        <p:spPr>
          <a:xfrm xmlns:a="http://schemas.openxmlformats.org/drawingml/2006/main">
            <a:off x="11049000" y="63150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435A56"/>
                </a:solidFill>
                <a:latin typeface="Arial"/>
                <a:ea typeface="Arial"/>
                <a:cs typeface="Arial"/>
              </a:defRPr>
            </a:defPPr>
          </a:lstStyle>
          <a:p xmlns:a="http://schemas.openxmlformats.org/drawingml/2006/main">
            <a:pPr>
              <a:defRPr sz="1275" b="0">
                <a:solidFill>
                  <a:srgbClr val="435A56"/>
                </a:solidFill>
                <a:latin typeface="Arial"/>
                <a:ea typeface="Arial"/>
                <a:cs typeface="Arial"/>
              </a:defRPr>
            </a:pPr>
            <a:r>
              <a:rPr sz="1275" b="0">
                <a:solidFill>
                  <a:srgbClr val="435A56"/>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5F299F77-8E1C-4E23-919E-3AAD7DC168C7}"/>
              </a:ext>
            </a:extLst>
          </p:cNvPr>
          <p:cNvSpPr>
            <a:spLocks xmlns:a="http://schemas.openxmlformats.org/drawingml/2006/main" noGrp="1"/>
          </p:cNvSpPr>
          <p:nvPr/>
        </p:nvSpPr>
        <p:spPr>
          <a:xfrm xmlns:a="http://schemas.openxmlformats.org/drawingml/2006/main">
            <a:off x="762000" y="167640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500" b="1">
                <a:solidFill>
                  <a:srgbClr val="087B72"/>
                </a:solidFill>
                <a:latin typeface="Arial"/>
                <a:ea typeface="Arial"/>
                <a:cs typeface="Arial"/>
              </a:defRPr>
            </a:defPPr>
          </a:lstStyle>
          <a:p xmlns:a="http://schemas.openxmlformats.org/drawingml/2006/main">
            <a:pPr>
              <a:defRPr sz="4500" b="1">
                <a:solidFill>
                  <a:srgbClr val="087B72"/>
                </a:solidFill>
                <a:latin typeface="Arial"/>
                <a:ea typeface="Arial"/>
                <a:cs typeface="Arial"/>
              </a:defRPr>
            </a:pPr>
            <a:r>
              <a:rPr sz="4500" b="1">
                <a:solidFill>
                  <a:srgbClr val="087B72"/>
                </a:solidFill>
                <a:latin typeface="Arial"/>
                <a:ea typeface="Arial"/>
                <a:cs typeface="Arial"/>
                <a:hlinkClick xmlns:r="http://schemas.openxmlformats.org/officeDocument/2006/relationships" r:id="Rc59e007e95c5406c"/>
              </a:rPr>
              <a:t>bakai.manas.edu.kg</a:t>
            </a:r>
          </a:p>
        </p:txBody>
      </p:sp>
      <p:sp>
        <p:nvSpPr>
          <p:cNvPr id="4" name="">
            <a:extLst xmlns:a="http://schemas.openxmlformats.org/drawingml/2006/main">
              <a:ext uri="{FF2B5EF4-FFF2-40B4-BE49-F238E27FC236}">
                <a16:creationId xmlns:a16="http://schemas.microsoft.com/office/drawing/2014/main" id="{3D5E6FC6-2DC4-4799-94F6-5F81AC0B3261}"/>
              </a:ext>
            </a:extLst>
          </p:cNvPr>
          <p:cNvSpPr>
            <a:spLocks xmlns:a="http://schemas.openxmlformats.org/drawingml/2006/main" noGrp="1"/>
          </p:cNvSpPr>
          <p:nvPr/>
        </p:nvSpPr>
        <p:spPr>
          <a:xfrm xmlns:a="http://schemas.openxmlformats.org/drawingml/2006/main">
            <a:off x="762000" y="2943225"/>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142724"/>
                </a:solidFill>
                <a:latin typeface="Arial"/>
                <a:ea typeface="Arial"/>
                <a:cs typeface="Arial"/>
              </a:defRPr>
            </a:defPPr>
          </a:lstStyle>
          <a:p xmlns:a="http://schemas.openxmlformats.org/drawingml/2006/main">
            <a:pPr>
              <a:defRPr sz="2400" b="0">
                <a:solidFill>
                  <a:srgbClr val="142724"/>
                </a:solidFill>
                <a:latin typeface="Arial"/>
                <a:ea typeface="Arial"/>
                <a:cs typeface="Arial"/>
              </a:defRPr>
            </a:pPr>
            <a:r>
              <a:rPr sz="2400" b="0">
                <a:solidFill>
                  <a:srgbClr val="142724"/>
                </a:solidFill>
                <a:latin typeface="Arial"/>
                <a:ea typeface="Arial"/>
                <a:cs typeface="Arial"/>
              </a:rPr>
              <a:t>1   Türkçe bir soru</a:t>
            </a:r>
          </a:p>
        </p:txBody>
      </p:sp>
      <p:sp>
        <p:nvSpPr>
          <p:cNvPr id="5" name="">
            <a:extLst xmlns:a="http://schemas.openxmlformats.org/drawingml/2006/main">
              <a:ext uri="{FF2B5EF4-FFF2-40B4-BE49-F238E27FC236}">
                <a16:creationId xmlns:a16="http://schemas.microsoft.com/office/drawing/2014/main" id="{412CF2CC-88F7-44D6-8735-AD4A0E83FEF7}"/>
              </a:ext>
            </a:extLst>
          </p:cNvPr>
          <p:cNvSpPr>
            <a:spLocks xmlns:a="http://schemas.openxmlformats.org/drawingml/2006/main" noGrp="1"/>
          </p:cNvSpPr>
          <p:nvPr/>
        </p:nvSpPr>
        <p:spPr>
          <a:xfrm xmlns:a="http://schemas.openxmlformats.org/drawingml/2006/main">
            <a:off x="762000" y="3657600"/>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142724"/>
                </a:solidFill>
                <a:latin typeface="Arial"/>
                <a:ea typeface="Arial"/>
                <a:cs typeface="Arial"/>
              </a:defRPr>
            </a:defPPr>
          </a:lstStyle>
          <a:p xmlns:a="http://schemas.openxmlformats.org/drawingml/2006/main">
            <a:pPr>
              <a:defRPr sz="2400" b="0">
                <a:solidFill>
                  <a:srgbClr val="142724"/>
                </a:solidFill>
                <a:latin typeface="Arial"/>
                <a:ea typeface="Arial"/>
                <a:cs typeface="Arial"/>
              </a:defRPr>
            </a:pPr>
            <a:r>
              <a:rPr sz="2400" b="0">
                <a:solidFill>
                  <a:srgbClr val="142724"/>
                </a:solidFill>
                <a:latin typeface="Arial"/>
                <a:ea typeface="Arial"/>
                <a:cs typeface="Arial"/>
              </a:rPr>
              <a:t>2   Yanıtın koşulları ve kapsamı</a:t>
            </a:r>
          </a:p>
        </p:txBody>
      </p:sp>
      <p:sp>
        <p:nvSpPr>
          <p:cNvPr id="6" name="">
            <a:extLst xmlns:a="http://schemas.openxmlformats.org/drawingml/2006/main">
              <a:ext uri="{FF2B5EF4-FFF2-40B4-BE49-F238E27FC236}">
                <a16:creationId xmlns:a16="http://schemas.microsoft.com/office/drawing/2014/main" id="{46754FFB-C334-4DD5-9247-B8B7A0BC957F}"/>
              </a:ext>
            </a:extLst>
          </p:cNvPr>
          <p:cNvSpPr>
            <a:spLocks xmlns:a="http://schemas.openxmlformats.org/drawingml/2006/main" noGrp="1"/>
          </p:cNvSpPr>
          <p:nvPr/>
        </p:nvSpPr>
        <p:spPr>
          <a:xfrm xmlns:a="http://schemas.openxmlformats.org/drawingml/2006/main">
            <a:off x="762000" y="4371975"/>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142724"/>
                </a:solidFill>
                <a:latin typeface="Arial"/>
                <a:ea typeface="Arial"/>
                <a:cs typeface="Arial"/>
              </a:defRPr>
            </a:defPPr>
          </a:lstStyle>
          <a:p xmlns:a="http://schemas.openxmlformats.org/drawingml/2006/main">
            <a:pPr>
              <a:defRPr sz="2400" b="0">
                <a:solidFill>
                  <a:srgbClr val="142724"/>
                </a:solidFill>
                <a:latin typeface="Arial"/>
                <a:ea typeface="Arial"/>
                <a:cs typeface="Arial"/>
              </a:defRPr>
            </a:pPr>
            <a:r>
              <a:rPr sz="2400" b="0">
                <a:solidFill>
                  <a:srgbClr val="142724"/>
                </a:solidFill>
                <a:latin typeface="Arial"/>
                <a:ea typeface="Arial"/>
                <a:cs typeface="Arial"/>
              </a:rPr>
              <a:t>3   Kaynak bölümü ve asıl belge</a:t>
            </a:r>
          </a:p>
        </p:txBody>
      </p:sp>
      <p:sp>
        <p:nvSpPr>
          <p:cNvPr id="7" name="">
            <a:extLst xmlns:a="http://schemas.openxmlformats.org/drawingml/2006/main">
              <a:ext uri="{FF2B5EF4-FFF2-40B4-BE49-F238E27FC236}">
                <a16:creationId xmlns:a16="http://schemas.microsoft.com/office/drawing/2014/main" id="{AEAE95ED-26D5-4879-8924-24A1F8D53820}"/>
              </a:ext>
            </a:extLst>
          </p:cNvPr>
          <p:cNvSpPr>
            <a:spLocks xmlns:a="http://schemas.openxmlformats.org/drawingml/2006/main" noGrp="1"/>
          </p:cNvSpPr>
          <p:nvPr/>
        </p:nvSpPr>
        <p:spPr>
          <a:xfrm xmlns:a="http://schemas.openxmlformats.org/drawingml/2006/main">
            <a:off x="762000" y="50863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142724"/>
                </a:solidFill>
                <a:latin typeface="Arial"/>
                <a:ea typeface="Arial"/>
                <a:cs typeface="Arial"/>
              </a:defRPr>
            </a:defPPr>
          </a:lstStyle>
          <a:p xmlns:a="http://schemas.openxmlformats.org/drawingml/2006/main">
            <a:pPr>
              <a:defRPr sz="2400" b="0">
                <a:solidFill>
                  <a:srgbClr val="142724"/>
                </a:solidFill>
                <a:latin typeface="Arial"/>
                <a:ea typeface="Arial"/>
                <a:cs typeface="Arial"/>
              </a:defRPr>
            </a:pPr>
            <a:r>
              <a:rPr sz="2400" b="0">
                <a:solidFill>
                  <a:srgbClr val="142724"/>
                </a:solidFill>
                <a:latin typeface="Arial"/>
                <a:ea typeface="Arial"/>
                <a:cs typeface="Arial"/>
              </a:rPr>
              <a:t>4   Yönetim ekranında sağlık ve maliyet özeti</a:t>
            </a:r>
          </a:p>
        </p:txBody>
      </p:sp>
    </p:spTree>
    <p:extLst>
      <p:ext uri="{BB962C8B-B14F-4D97-AF65-F5344CB8AC3E}">
        <p14:creationId xmlns:p14="http://schemas.microsoft.com/office/powerpoint/2010/main" val="858014299"/>
      </p:ext>
    </p:extLst>
  </p:cSld>
</p:sld>
</file>

<file path=ppt/slides/slide9.xml><?xml version="1.0" encoding="utf-8"?>
<p:sld xmlns:p="http://schemas.openxmlformats.org/presentationml/2006/main">
  <p:cSld>
    <p:bg>
      <p:bgPr>
        <a:solidFill xmlns:a="http://schemas.openxmlformats.org/drawingml/2006/main">
          <a:srgbClr val="14272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F8BD5F5-9A34-47F3-A6CB-CE75621761DB}"/>
              </a:ext>
            </a:extLst>
          </p:cNvPr>
          <p:cNvSpPr>
            <a:spLocks xmlns:a="http://schemas.openxmlformats.org/drawingml/2006/main" noGrp="1"/>
          </p:cNvSpPr>
          <p:nvPr/>
        </p:nvSpPr>
        <p:spPr>
          <a:xfrm xmlns:a="http://schemas.openxmlformats.org/drawingml/2006/main">
            <a:off x="723900" y="5905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Birimlerin katılımıyla kurumsal pilot</a:t>
            </a:r>
          </a:p>
        </p:txBody>
      </p:sp>
      <p:sp>
        <p:nvSpPr>
          <p:cNvPr id="2" name="">
            <a:extLst xmlns:a="http://schemas.openxmlformats.org/drawingml/2006/main">
              <a:ext uri="{FF2B5EF4-FFF2-40B4-BE49-F238E27FC236}">
                <a16:creationId xmlns:a16="http://schemas.microsoft.com/office/drawing/2014/main" id="{5888931B-5FEE-4433-B795-D47524C806B8}"/>
              </a:ext>
            </a:extLst>
          </p:cNvPr>
          <p:cNvSpPr>
            <a:spLocks xmlns:a="http://schemas.openxmlformats.org/drawingml/2006/main" noGrp="1"/>
          </p:cNvSpPr>
          <p:nvPr/>
        </p:nvSpPr>
        <p:spPr>
          <a:xfrm xmlns:a="http://schemas.openxmlformats.org/drawingml/2006/main">
            <a:off x="11049000" y="63150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C4D2CE"/>
                </a:solidFill>
                <a:latin typeface="Arial"/>
                <a:ea typeface="Arial"/>
                <a:cs typeface="Arial"/>
              </a:defRPr>
            </a:defPPr>
          </a:lstStyle>
          <a:p xmlns:a="http://schemas.openxmlformats.org/drawingml/2006/main">
            <a:pPr>
              <a:defRPr sz="1275" b="0">
                <a:solidFill>
                  <a:srgbClr val="C4D2CE"/>
                </a:solidFill>
                <a:latin typeface="Arial"/>
                <a:ea typeface="Arial"/>
                <a:cs typeface="Arial"/>
              </a:defRPr>
            </a:pPr>
            <a:r>
              <a:rPr sz="1275" b="0">
                <a:solidFill>
                  <a:srgbClr val="C4D2CE"/>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498B0930-84CD-41C5-B26D-346809C4FFE2}"/>
              </a:ext>
            </a:extLst>
          </p:cNvPr>
          <p:cNvSpPr>
            <a:spLocks xmlns:a="http://schemas.openxmlformats.org/drawingml/2006/main" noGrp="1"/>
          </p:cNvSpPr>
          <p:nvPr/>
        </p:nvSpPr>
        <p:spPr>
          <a:xfrm xmlns:a="http://schemas.openxmlformats.org/drawingml/2006/main">
            <a:off x="742950" y="1924050"/>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İlgili birimlerden gerçek sorular</a:t>
            </a:r>
          </a:p>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ve kaynaklı beklenen yanıtlar</a:t>
            </a:r>
          </a:p>
        </p:txBody>
      </p:sp>
      <p:sp>
        <p:nvSpPr>
          <p:cNvPr id="4" name="">
            <a:extLst xmlns:a="http://schemas.openxmlformats.org/drawingml/2006/main">
              <a:ext uri="{FF2B5EF4-FFF2-40B4-BE49-F238E27FC236}">
                <a16:creationId xmlns:a16="http://schemas.microsoft.com/office/drawing/2014/main" id="{26F9E716-602D-4410-AA33-CB6F8042DD29}"/>
              </a:ext>
            </a:extLst>
          </p:cNvPr>
          <p:cNvSpPr>
            <a:spLocks xmlns:a="http://schemas.openxmlformats.org/drawingml/2006/main" noGrp="1"/>
          </p:cNvSpPr>
          <p:nvPr/>
        </p:nvSpPr>
        <p:spPr>
          <a:xfrm xmlns:a="http://schemas.openxmlformats.org/drawingml/2006/main">
            <a:off x="762000" y="3800475"/>
            <a:ext cx="10382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C4D2CE"/>
                </a:solidFill>
                <a:latin typeface="Arial"/>
                <a:ea typeface="Arial"/>
                <a:cs typeface="Arial"/>
              </a:defRPr>
            </a:defPPr>
          </a:lstStyle>
          <a:p xmlns:a="http://schemas.openxmlformats.org/drawingml/2006/main">
            <a:pPr>
              <a:defRPr sz="2325" b="0">
                <a:solidFill>
                  <a:srgbClr val="C4D2CE"/>
                </a:solidFill>
                <a:latin typeface="Arial"/>
                <a:ea typeface="Arial"/>
                <a:cs typeface="Arial"/>
              </a:defRPr>
            </a:pPr>
            <a:r>
              <a:rPr sz="2325" b="0">
                <a:solidFill>
                  <a:srgbClr val="C4D2CE"/>
                </a:solidFill>
                <a:latin typeface="Arial"/>
                <a:ea typeface="Arial"/>
                <a:cs typeface="Arial"/>
              </a:rPr>
              <a:t>Değerlendirme sonuçlarıyla kapsamı ve yanıt kalitesini geliştirme</a:t>
            </a:r>
          </a:p>
        </p:txBody>
      </p:sp>
      <p:sp>
        <p:nvSpPr>
          <p:cNvPr id="5" name="">
            <a:extLst xmlns:a="http://schemas.openxmlformats.org/drawingml/2006/main">
              <a:ext uri="{FF2B5EF4-FFF2-40B4-BE49-F238E27FC236}">
                <a16:creationId xmlns:a16="http://schemas.microsoft.com/office/drawing/2014/main" id="{48D41189-1DAF-429A-A674-6F887898CFB3}"/>
              </a:ext>
            </a:extLst>
          </p:cNvPr>
          <p:cNvSpPr>
            <a:spLocks xmlns:a="http://schemas.openxmlformats.org/drawingml/2006/main" noGrp="1"/>
          </p:cNvSpPr>
          <p:nvPr/>
        </p:nvSpPr>
        <p:spPr>
          <a:xfrm xmlns:a="http://schemas.openxmlformats.org/drawingml/2006/main">
            <a:off x="762000" y="5372100"/>
            <a:ext cx="962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000" b="1">
                <a:solidFill>
                  <a:srgbClr val="80C9BC"/>
                </a:solidFill>
                <a:latin typeface="Arial"/>
                <a:ea typeface="Arial"/>
                <a:cs typeface="Arial"/>
              </a:defRPr>
            </a:defPPr>
          </a:lstStyle>
          <a:p xmlns:a="http://schemas.openxmlformats.org/drawingml/2006/main">
            <a:pPr>
              <a:defRPr sz="3000" b="1">
                <a:solidFill>
                  <a:srgbClr val="80C9BC"/>
                </a:solidFill>
                <a:latin typeface="Arial"/>
                <a:ea typeface="Arial"/>
                <a:cs typeface="Arial"/>
              </a:defRPr>
            </a:pPr>
            <a:r>
              <a:rPr sz="3000" b="1">
                <a:solidFill>
                  <a:srgbClr val="80C9BC"/>
                </a:solidFill>
                <a:latin typeface="Arial"/>
                <a:ea typeface="Arial"/>
                <a:cs typeface="Arial"/>
              </a:rPr>
              <a:t>bakai.manas.edu.kg</a:t>
            </a:r>
          </a:p>
        </p:txBody>
      </p:sp>
    </p:spTree>
    <p:extLst>
      <p:ext uri="{BB962C8B-B14F-4D97-AF65-F5344CB8AC3E}">
        <p14:creationId xmlns:p14="http://schemas.microsoft.com/office/powerpoint/2010/main" val="12708358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2026-10-18T11:34:40.8760000Z</dcterms:created>
  <dcterms:modified xsi:type="dcterms:W3CDTF">2026-10-18T11:34:40.8760000Z</dcterms:modified>
</coreProperties>
</file>